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34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93" r:id="rId4"/>
    <p:sldId id="299" r:id="rId5"/>
    <p:sldId id="300" r:id="rId6"/>
    <p:sldId id="294" r:id="rId7"/>
    <p:sldId id="301" r:id="rId8"/>
    <p:sldId id="295" r:id="rId9"/>
    <p:sldId id="296" r:id="rId10"/>
    <p:sldId id="302" r:id="rId11"/>
    <p:sldId id="297" r:id="rId12"/>
    <p:sldId id="298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90" r:id="rId29"/>
    <p:sldId id="291" r:id="rId30"/>
    <p:sldId id="292" r:id="rId31"/>
    <p:sldId id="303" r:id="rId32"/>
    <p:sldId id="304" r:id="rId3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0066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98" autoAdjust="0"/>
    <p:restoredTop sz="86471" autoAdjust="0"/>
  </p:normalViewPr>
  <p:slideViewPr>
    <p:cSldViewPr>
      <p:cViewPr varScale="1">
        <p:scale>
          <a:sx n="61" d="100"/>
          <a:sy n="61" d="100"/>
        </p:scale>
        <p:origin x="3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AADDDF-A65D-4A9B-9D5C-1DF687058A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dirty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2485F1-C105-4AB9-824F-D047C1606D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B205E87-D2A6-4642-A342-3F85C6A8E41F}" type="datetimeFigureOut">
              <a:rPr lang="en-US"/>
              <a:pPr>
                <a:defRPr/>
              </a:pPr>
              <a:t>10/14/2024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D51C5-A327-48B8-851F-1D6791B2EE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dirty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12B80-36F3-47FE-B68D-FBA016F1FB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C78BDBB9-D56C-4A9A-B225-18DABFD8D6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EDADF5-4AE2-4F85-A6CE-FDC8DBD857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dirty="0">
                <a:latin typeface="Calibri" panose="020F0502020204030204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D506A-51F1-40EF-90FC-86204614EBD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>
                <a:latin typeface="Calibri" panose="020F0502020204030204" pitchFamily="34" charset="0"/>
                <a:cs typeface="Arial" charset="0"/>
              </a:defRPr>
            </a:lvl1pPr>
          </a:lstStyle>
          <a:p>
            <a:pPr>
              <a:defRPr/>
            </a:pPr>
            <a:fld id="{1FB53A08-E887-459F-9427-3474D71879C0}" type="datetimeFigureOut">
              <a:rPr lang="en-US"/>
              <a:pPr>
                <a:defRPr/>
              </a:pPr>
              <a:t>10/14/2024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DACB6AA-CC44-4D74-9523-3CAF4D13A7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0B847C5-DC91-43C5-A364-FE1A4E815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1C908-82C4-4D01-8BE9-1C521A7138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dirty="0">
                <a:latin typeface="Calibri" panose="020F0502020204030204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C90CF-820C-442A-9E6F-46924C7E0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F32C50ED-1C36-43E5-BEFF-A160D18DC90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47C50E3F-0BC1-4326-A513-FEC0657F84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E2F41FA1-5F35-41C4-909F-E3208F1265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Title_Slide.png">
            <a:extLst>
              <a:ext uri="{FF2B5EF4-FFF2-40B4-BE49-F238E27FC236}">
                <a16:creationId xmlns:a16="http://schemas.microsoft.com/office/drawing/2014/main" id="{B1A31B3F-7977-4914-8A6F-E225BE430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3" y="254000"/>
            <a:ext cx="8713787" cy="652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FD34CFF-CC57-4F6B-9107-2450766E2AA3}"/>
              </a:ext>
            </a:extLst>
          </p:cNvPr>
          <p:cNvSpPr/>
          <p:nvPr/>
        </p:nvSpPr>
        <p:spPr>
          <a:xfrm>
            <a:off x="3482975" y="223838"/>
            <a:ext cx="2125663" cy="985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6" name="Picture 11" descr="Rules_Single_A.png">
            <a:extLst>
              <a:ext uri="{FF2B5EF4-FFF2-40B4-BE49-F238E27FC236}">
                <a16:creationId xmlns:a16="http://schemas.microsoft.com/office/drawing/2014/main" id="{BD4AECF0-90C2-4A30-9DE1-1F6CBD9F6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6729"/>
          <a:stretch>
            <a:fillRect/>
          </a:stretch>
        </p:blipFill>
        <p:spPr bwMode="auto">
          <a:xfrm>
            <a:off x="1627188" y="481013"/>
            <a:ext cx="10034587" cy="10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9A38EE82-522A-4CDE-B3E4-3A0362FFD9D8}"/>
              </a:ext>
            </a:extLst>
          </p:cNvPr>
          <p:cNvSpPr/>
          <p:nvPr/>
        </p:nvSpPr>
        <p:spPr>
          <a:xfrm>
            <a:off x="6811963" y="4884738"/>
            <a:ext cx="2081212" cy="1927225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8" name="Picture 13" descr="Audio.png">
            <a:extLst>
              <a:ext uri="{FF2B5EF4-FFF2-40B4-BE49-F238E27FC236}">
                <a16:creationId xmlns:a16="http://schemas.microsoft.com/office/drawing/2014/main" id="{B3B82407-A744-4B09-8CD4-E08483554F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938" y="5389563"/>
            <a:ext cx="985837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4">
            <a:extLst>
              <a:ext uri="{FF2B5EF4-FFF2-40B4-BE49-F238E27FC236}">
                <a16:creationId xmlns:a16="http://schemas.microsoft.com/office/drawing/2014/main" id="{509ABE38-FD5C-4056-BB8A-C9B5F87DA8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100" y="5121275"/>
            <a:ext cx="27622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5" descr="Swirl_3.png">
            <a:extLst>
              <a:ext uri="{FF2B5EF4-FFF2-40B4-BE49-F238E27FC236}">
                <a16:creationId xmlns:a16="http://schemas.microsoft.com/office/drawing/2014/main" id="{558D8F88-7835-4E5F-9CB1-580AD88484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688654">
            <a:off x="7440613" y="6392863"/>
            <a:ext cx="3857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6" descr="Swirl_3.png">
            <a:extLst>
              <a:ext uri="{FF2B5EF4-FFF2-40B4-BE49-F238E27FC236}">
                <a16:creationId xmlns:a16="http://schemas.microsoft.com/office/drawing/2014/main" id="{2A461F0E-1225-4282-839B-E2B166AC52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73124">
            <a:off x="7908926" y="5449887"/>
            <a:ext cx="5905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7">
            <a:extLst>
              <a:ext uri="{FF2B5EF4-FFF2-40B4-BE49-F238E27FC236}">
                <a16:creationId xmlns:a16="http://schemas.microsoft.com/office/drawing/2014/main" id="{B0583F5A-B2AA-4CA2-A682-C9001FF235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8" y="5832475"/>
            <a:ext cx="673100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8">
            <a:extLst>
              <a:ext uri="{FF2B5EF4-FFF2-40B4-BE49-F238E27FC236}">
                <a16:creationId xmlns:a16="http://schemas.microsoft.com/office/drawing/2014/main" id="{A2C1BFCB-D3B7-4247-8D0C-325436A378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15088"/>
            <a:ext cx="1150938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23470"/>
            <a:ext cx="7747000" cy="366254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391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5B12D1DF-9675-4ECB-92CE-207CFE4547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04913" y="6364288"/>
            <a:ext cx="6200775" cy="365125"/>
          </a:xfrm>
        </p:spPr>
        <p:txBody>
          <a:bodyPr/>
          <a:lstStyle>
            <a:lvl1pPr>
              <a:defRPr sz="600" dirty="0" smtClean="0"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2780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Rules_Single_A.png">
            <a:extLst>
              <a:ext uri="{FF2B5EF4-FFF2-40B4-BE49-F238E27FC236}">
                <a16:creationId xmlns:a16="http://schemas.microsoft.com/office/drawing/2014/main" id="{E8592F7B-8BC2-445B-B86D-358875C17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6729"/>
          <a:stretch>
            <a:fillRect/>
          </a:stretch>
        </p:blipFill>
        <p:spPr bwMode="auto">
          <a:xfrm>
            <a:off x="1597025" y="6488113"/>
            <a:ext cx="11423650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" descr="Audio.png">
            <a:extLst>
              <a:ext uri="{FF2B5EF4-FFF2-40B4-BE49-F238E27FC236}">
                <a16:creationId xmlns:a16="http://schemas.microsoft.com/office/drawing/2014/main" id="{29DFA26F-9F86-4AB4-8FE1-9F93EB752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361950"/>
            <a:ext cx="1839912" cy="194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Swirl_3.png">
            <a:extLst>
              <a:ext uri="{FF2B5EF4-FFF2-40B4-BE49-F238E27FC236}">
                <a16:creationId xmlns:a16="http://schemas.microsoft.com/office/drawing/2014/main" id="{20540F9A-0B03-43B2-A677-5E1858531D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569126">
            <a:off x="1431925" y="1916113"/>
            <a:ext cx="90805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Swirl_2.png">
            <a:extLst>
              <a:ext uri="{FF2B5EF4-FFF2-40B4-BE49-F238E27FC236}">
                <a16:creationId xmlns:a16="http://schemas.microsoft.com/office/drawing/2014/main" id="{F7F97445-1E59-4105-9E2C-DA6F6FADBB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73741" flipH="1">
            <a:off x="218281" y="3552032"/>
            <a:ext cx="7953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609A6BCC-B784-4B37-9DAA-71BCC281F7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5" y="2605088"/>
            <a:ext cx="1101725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4">
            <a:extLst>
              <a:ext uri="{FF2B5EF4-FFF2-40B4-BE49-F238E27FC236}">
                <a16:creationId xmlns:a16="http://schemas.microsoft.com/office/drawing/2014/main" id="{E26F1340-9677-472C-8FC7-0B9266C0F5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8" y="4535488"/>
            <a:ext cx="596900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5">
            <a:extLst>
              <a:ext uri="{FF2B5EF4-FFF2-40B4-BE49-F238E27FC236}">
                <a16:creationId xmlns:a16="http://schemas.microsoft.com/office/drawing/2014/main" id="{8E359592-A92B-4241-B8EF-569AF22F7E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4805363"/>
            <a:ext cx="252412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6">
            <a:extLst>
              <a:ext uri="{FF2B5EF4-FFF2-40B4-BE49-F238E27FC236}">
                <a16:creationId xmlns:a16="http://schemas.microsoft.com/office/drawing/2014/main" id="{B7C1C922-D2AA-4AF7-BE82-FF138D922B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6362700"/>
            <a:ext cx="14001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33574"/>
            <a:ext cx="6172200" cy="366254"/>
          </a:xfrm>
        </p:spPr>
        <p:txBody>
          <a:bodyPr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2"/>
            <a:ext cx="6172200" cy="2631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127A4706-96D8-48E5-95B5-2EB5CEE665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97025" y="6578600"/>
            <a:ext cx="6781800" cy="244475"/>
          </a:xfrm>
        </p:spPr>
        <p:txBody>
          <a:bodyPr/>
          <a:lstStyle>
            <a:lvl1pPr>
              <a:defRPr sz="600" dirty="0" smtClean="0"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865202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Rules_Single_B.png">
            <a:extLst>
              <a:ext uri="{FF2B5EF4-FFF2-40B4-BE49-F238E27FC236}">
                <a16:creationId xmlns:a16="http://schemas.microsoft.com/office/drawing/2014/main" id="{7C77A270-7228-4D72-9B9A-C7F4EFF2B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48"/>
          <a:stretch>
            <a:fillRect/>
          </a:stretch>
        </p:blipFill>
        <p:spPr bwMode="auto">
          <a:xfrm>
            <a:off x="215900" y="947738"/>
            <a:ext cx="8586788" cy="4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59F65740-151D-4666-9573-CC374C557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" y="222250"/>
            <a:ext cx="628650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 descr="Rules_Single_A.png">
            <a:extLst>
              <a:ext uri="{FF2B5EF4-FFF2-40B4-BE49-F238E27FC236}">
                <a16:creationId xmlns:a16="http://schemas.microsoft.com/office/drawing/2014/main" id="{8D60E27D-EB40-496E-94B0-9B47FF4443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6729"/>
          <a:stretch>
            <a:fillRect/>
          </a:stretch>
        </p:blipFill>
        <p:spPr bwMode="auto">
          <a:xfrm>
            <a:off x="1597025" y="6488113"/>
            <a:ext cx="11423650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BD0E223D-004C-485D-B6D8-6A73DC02D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6324600"/>
            <a:ext cx="1438275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516444"/>
            <a:ext cx="8026400" cy="28777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F044B3FC-86D1-4800-99A4-EE804E8E9D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97025" y="6578600"/>
            <a:ext cx="6781800" cy="244475"/>
          </a:xfrm>
        </p:spPr>
        <p:txBody>
          <a:bodyPr/>
          <a:lstStyle>
            <a:lvl1pPr>
              <a:defRPr sz="600" dirty="0" smtClean="0"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5100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 descr="Rules_Single_B.png">
            <a:extLst>
              <a:ext uri="{FF2B5EF4-FFF2-40B4-BE49-F238E27FC236}">
                <a16:creationId xmlns:a16="http://schemas.microsoft.com/office/drawing/2014/main" id="{D8B41831-E767-49BA-A35F-EB728E8B1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48"/>
          <a:stretch>
            <a:fillRect/>
          </a:stretch>
        </p:blipFill>
        <p:spPr bwMode="auto">
          <a:xfrm>
            <a:off x="215900" y="947738"/>
            <a:ext cx="8586788" cy="4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D6486201-2977-43A0-A153-E40B1DD93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" y="222250"/>
            <a:ext cx="628650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1" descr="Rules_Single_A.png">
            <a:extLst>
              <a:ext uri="{FF2B5EF4-FFF2-40B4-BE49-F238E27FC236}">
                <a16:creationId xmlns:a16="http://schemas.microsoft.com/office/drawing/2014/main" id="{24E57AD0-154D-4475-BB84-2DFEFD5071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6729"/>
          <a:stretch>
            <a:fillRect/>
          </a:stretch>
        </p:blipFill>
        <p:spPr bwMode="auto">
          <a:xfrm>
            <a:off x="1597025" y="6488113"/>
            <a:ext cx="11423650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5BE46557-814C-4065-9B8B-57B71C5F23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6305550"/>
            <a:ext cx="14033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10493"/>
            <a:ext cx="8026400" cy="2877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83D7B3F-6D80-4FBA-97FC-46D6CAB0A8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97025" y="6578600"/>
            <a:ext cx="6781800" cy="244475"/>
          </a:xfrm>
        </p:spPr>
        <p:txBody>
          <a:bodyPr/>
          <a:lstStyle>
            <a:lvl1pPr>
              <a:defRPr sz="600" dirty="0" smtClean="0"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9734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AFC0758-A37B-4624-884D-C3717559D4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0943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A1E0C6-01E3-4553-8055-F674E83E2907}"/>
              </a:ext>
            </a:extLst>
          </p:cNvPr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 useBgFill="1">
        <p:nvSpPr>
          <p:cNvPr id="4" name="Rounded Rectangle 10">
            <a:extLst>
              <a:ext uri="{FF2B5EF4-FFF2-40B4-BE49-F238E27FC236}">
                <a16:creationId xmlns:a16="http://schemas.microsoft.com/office/drawing/2014/main" id="{486CF74E-6252-4FCE-97F4-6271DFD1995A}"/>
              </a:ext>
            </a:extLst>
          </p:cNvPr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 useBgFill="1">
        <p:nvSpPr>
          <p:cNvPr id="5" name="Rounded Rectangle 11">
            <a:extLst>
              <a:ext uri="{FF2B5EF4-FFF2-40B4-BE49-F238E27FC236}">
                <a16:creationId xmlns:a16="http://schemas.microsoft.com/office/drawing/2014/main" id="{BD81278E-3182-4148-8238-61A7C365A1DC}"/>
              </a:ext>
            </a:extLst>
          </p:cNvPr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AA07A8-C474-4D66-B437-83AE6AECE112}"/>
              </a:ext>
            </a:extLst>
          </p:cNvPr>
          <p:cNvSpPr/>
          <p:nvPr/>
        </p:nvSpPr>
        <p:spPr>
          <a:xfrm>
            <a:off x="0" y="3962400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1C1DDF-13D2-46B2-97F9-C37945DA73F8}"/>
              </a:ext>
            </a:extLst>
          </p:cNvPr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AF0FC9-62EB-4C23-B341-C1A4E7396B0C}"/>
              </a:ext>
            </a:extLst>
          </p:cNvPr>
          <p:cNvSpPr/>
          <p:nvPr userDrawn="1"/>
        </p:nvSpPr>
        <p:spPr>
          <a:xfrm>
            <a:off x="0" y="0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5264AF6-E245-41C6-AD5C-CAE194E94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3513"/>
            <a:ext cx="2667000" cy="368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328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79787"/>
            <a:ext cx="8382000" cy="418576"/>
          </a:xfrm>
        </p:spPr>
        <p:txBody>
          <a:bodyPr/>
          <a:lstStyle>
            <a:lvl1pPr>
              <a:defRPr sz="3200" b="0" i="0" cap="none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1828800"/>
            <a:ext cx="4041648" cy="1526508"/>
          </a:xfrm>
        </p:spPr>
        <p:txBody>
          <a:bodyPr/>
          <a:lstStyle>
            <a:lvl1pPr>
              <a:defRPr sz="2400"/>
            </a:lvl1pPr>
            <a:lvl2pPr>
              <a:defRPr sz="1867"/>
            </a:lvl2pPr>
            <a:lvl3pPr>
              <a:defRPr sz="1680"/>
            </a:lvl3pPr>
            <a:lvl4pPr>
              <a:defRPr sz="1493"/>
            </a:lvl4pPr>
            <a:lvl5pPr>
              <a:defRPr sz="149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12" y="1828800"/>
            <a:ext cx="4041775" cy="1526508"/>
          </a:xfrm>
        </p:spPr>
        <p:txBody>
          <a:bodyPr/>
          <a:lstStyle>
            <a:lvl1pPr>
              <a:defRPr sz="2400"/>
            </a:lvl1pPr>
            <a:lvl2pPr>
              <a:defRPr sz="1867"/>
            </a:lvl2pPr>
            <a:lvl3pPr>
              <a:defRPr sz="1680"/>
            </a:lvl3pPr>
            <a:lvl4pPr>
              <a:defRPr sz="1493"/>
            </a:lvl4pPr>
            <a:lvl5pPr>
              <a:defRPr sz="149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884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544899-06E1-49F4-B29F-FA2A6DE6445A}"/>
              </a:ext>
            </a:extLst>
          </p:cNvPr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 useBgFill="1">
        <p:nvSpPr>
          <p:cNvPr id="4" name="Rounded Rectangle 10">
            <a:extLst>
              <a:ext uri="{FF2B5EF4-FFF2-40B4-BE49-F238E27FC236}">
                <a16:creationId xmlns:a16="http://schemas.microsoft.com/office/drawing/2014/main" id="{9DD142A3-2F7C-45AE-A3E0-AAF42E299BA8}"/>
              </a:ext>
            </a:extLst>
          </p:cNvPr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 useBgFill="1">
        <p:nvSpPr>
          <p:cNvPr id="5" name="Rounded Rectangle 11">
            <a:extLst>
              <a:ext uri="{FF2B5EF4-FFF2-40B4-BE49-F238E27FC236}">
                <a16:creationId xmlns:a16="http://schemas.microsoft.com/office/drawing/2014/main" id="{8DAC471E-142F-4A95-BBA2-F4EC585EFAB4}"/>
              </a:ext>
            </a:extLst>
          </p:cNvPr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F6A0D-A923-4794-BEA1-C81B2DA88B3D}"/>
              </a:ext>
            </a:extLst>
          </p:cNvPr>
          <p:cNvSpPr/>
          <p:nvPr/>
        </p:nvSpPr>
        <p:spPr>
          <a:xfrm>
            <a:off x="0" y="3962400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AC8F64-49F8-4383-8E7D-12E03636145E}"/>
              </a:ext>
            </a:extLst>
          </p:cNvPr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85AE57-3521-4ED9-AF1F-7D90D30B28AA}"/>
              </a:ext>
            </a:extLst>
          </p:cNvPr>
          <p:cNvSpPr/>
          <p:nvPr userDrawn="1"/>
        </p:nvSpPr>
        <p:spPr>
          <a:xfrm>
            <a:off x="0" y="0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B80A066-57A3-42A2-B6E8-F8B13C6CFE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3513"/>
            <a:ext cx="2667000" cy="368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8437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708E6E-C12C-47AD-A811-1482717752C3}"/>
              </a:ext>
            </a:extLst>
          </p:cNvPr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 useBgFill="1">
        <p:nvSpPr>
          <p:cNvPr id="4" name="Rounded Rectangle 10">
            <a:extLst>
              <a:ext uri="{FF2B5EF4-FFF2-40B4-BE49-F238E27FC236}">
                <a16:creationId xmlns:a16="http://schemas.microsoft.com/office/drawing/2014/main" id="{F5C5FCDD-DAB3-45E0-9979-98684457C1A5}"/>
              </a:ext>
            </a:extLst>
          </p:cNvPr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 useBgFill="1">
        <p:nvSpPr>
          <p:cNvPr id="5" name="Rounded Rectangle 11">
            <a:extLst>
              <a:ext uri="{FF2B5EF4-FFF2-40B4-BE49-F238E27FC236}">
                <a16:creationId xmlns:a16="http://schemas.microsoft.com/office/drawing/2014/main" id="{A8EA851E-C3B2-4575-A450-0F2D0A113D3A}"/>
              </a:ext>
            </a:extLst>
          </p:cNvPr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E9483E-7FC3-41FF-A662-1EF774E62801}"/>
              </a:ext>
            </a:extLst>
          </p:cNvPr>
          <p:cNvSpPr/>
          <p:nvPr/>
        </p:nvSpPr>
        <p:spPr>
          <a:xfrm>
            <a:off x="0" y="3962400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F3C603-E609-4F5F-951D-819732D2D74B}"/>
              </a:ext>
            </a:extLst>
          </p:cNvPr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26756F-002D-42D8-8923-3ECD219DFE83}"/>
              </a:ext>
            </a:extLst>
          </p:cNvPr>
          <p:cNvSpPr/>
          <p:nvPr userDrawn="1"/>
        </p:nvSpPr>
        <p:spPr>
          <a:xfrm>
            <a:off x="0" y="0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A7DA994-2CB0-458E-97D8-28908F9CE6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3513"/>
            <a:ext cx="2667000" cy="368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968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>
            <a:extLst>
              <a:ext uri="{FF2B5EF4-FFF2-40B4-BE49-F238E27FC236}">
                <a16:creationId xmlns:a16="http://schemas.microsoft.com/office/drawing/2014/main" id="{04057716-27C9-4DEC-8314-3034FE13D7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65125" y="1538288"/>
            <a:ext cx="8415338" cy="141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A7F5A2B-C99F-4C5B-9FE1-6D08820ADD09}"/>
              </a:ext>
            </a:extLst>
          </p:cNvPr>
          <p:cNvSpPr txBox="1">
            <a:spLocks/>
          </p:cNvSpPr>
          <p:nvPr/>
        </p:nvSpPr>
        <p:spPr>
          <a:xfrm>
            <a:off x="8382000" y="6513513"/>
            <a:ext cx="306388" cy="215900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71D952FD-C7D2-4A4C-8E2A-FB99567C6107}" type="slidenum">
              <a:rPr lang="en-US" altLang="en-US" sz="800">
                <a:solidFill>
                  <a:srgbClr val="898989"/>
                </a:solidFill>
                <a:latin typeface="Calibri" panose="020F0502020204030204" pitchFamily="34" charset="0"/>
              </a:rPr>
              <a:pPr algn="r" eaLnBrk="1" hangingPunct="1"/>
              <a:t>‹#›</a:t>
            </a:fld>
            <a:endParaRPr lang="en-US" altLang="en-US" sz="8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028" name="Title Placeholder 1">
            <a:extLst>
              <a:ext uri="{FF2B5EF4-FFF2-40B4-BE49-F238E27FC236}">
                <a16:creationId xmlns:a16="http://schemas.microsoft.com/office/drawing/2014/main" id="{E4D7EAF8-2BA9-434E-BF26-2DB8610417F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5125" y="485775"/>
            <a:ext cx="84153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FECD1-4029-47BF-BB01-EA24D520D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125" y="6610350"/>
            <a:ext cx="8013700" cy="212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600" dirty="0" smtClean="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8D08B5-97F0-45E4-8193-DD7D0CDF1830}"/>
              </a:ext>
            </a:extLst>
          </p:cNvPr>
          <p:cNvSpPr/>
          <p:nvPr userDrawn="1"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0070C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03C1D9-A00B-45C1-9B24-AE3AE657B177}"/>
              </a:ext>
            </a:extLst>
          </p:cNvPr>
          <p:cNvSpPr/>
          <p:nvPr userDrawn="1"/>
        </p:nvSpPr>
        <p:spPr>
          <a:xfrm>
            <a:off x="0" y="7938"/>
            <a:ext cx="9144000" cy="220662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ABBDA7-E20F-4310-A284-523E601862B7}"/>
              </a:ext>
            </a:extLst>
          </p:cNvPr>
          <p:cNvSpPr/>
          <p:nvPr userDrawn="1"/>
        </p:nvSpPr>
        <p:spPr>
          <a:xfrm>
            <a:off x="0" y="381000"/>
            <a:ext cx="9144000" cy="58738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2" r:id="rId5"/>
    <p:sldLayoutId id="2147483757" r:id="rId6"/>
    <p:sldLayoutId id="2147483758" r:id="rId7"/>
    <p:sldLayoutId id="2147483759" r:id="rId8"/>
    <p:sldLayoutId id="2147483760" r:id="rId9"/>
  </p:sldLayoutIdLst>
  <p:hf sldNum="0" hdr="0" dt="0"/>
  <p:txStyles>
    <p:titleStyle>
      <a:lvl1pPr algn="l" rtl="0" fontAlgn="base">
        <a:lnSpc>
          <a:spcPct val="85000"/>
        </a:lnSpc>
        <a:spcBef>
          <a:spcPct val="0"/>
        </a:spcBef>
        <a:spcAft>
          <a:spcPct val="0"/>
        </a:spcAft>
        <a:defRPr sz="2200" kern="1200">
          <a:solidFill>
            <a:schemeClr val="accent2"/>
          </a:solidFill>
          <a:latin typeface="Calibri" panose="020F0502020204030204" pitchFamily="34" charset="0"/>
          <a:ea typeface="+mj-ea"/>
          <a:cs typeface="+mj-cs"/>
        </a:defRPr>
      </a:lvl1pPr>
      <a:lvl2pPr algn="l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2pPr>
      <a:lvl3pPr algn="l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3pPr>
      <a:lvl4pPr algn="l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4pPr>
      <a:lvl5pPr algn="l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2200">
          <a:solidFill>
            <a:schemeClr val="accent2"/>
          </a:solidFill>
          <a:latin typeface="Calibri" panose="020F0502020204030204" pitchFamily="34" charset="0"/>
        </a:defRPr>
      </a:lvl9pPr>
    </p:titleStyle>
    <p:bodyStyle>
      <a:lvl1pPr marL="171450" indent="-171450" algn="l" rtl="0" fontAlgn="base">
        <a:lnSpc>
          <a:spcPct val="95000"/>
        </a:lnSpc>
        <a:spcBef>
          <a:spcPts val="12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400050" indent="-171450" algn="l" rtl="0" fontAlgn="base">
        <a:lnSpc>
          <a:spcPct val="95000"/>
        </a:lnSpc>
        <a:spcBef>
          <a:spcPts val="6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71500" indent="-114300" algn="l" rtl="0" fontAlgn="base">
        <a:lnSpc>
          <a:spcPct val="95000"/>
        </a:lnSpc>
        <a:spcBef>
          <a:spcPct val="20000"/>
        </a:spcBef>
        <a:spcAft>
          <a:spcPct val="0"/>
        </a:spcAft>
        <a:buClr>
          <a:srgbClr val="404040"/>
        </a:buClr>
        <a:buFont typeface="Arial" panose="020B0604020202020204" pitchFamily="34" charset="0"/>
        <a:buChar char="-"/>
        <a:defRPr sz="1600" kern="1200">
          <a:solidFill>
            <a:srgbClr val="404040"/>
          </a:solidFill>
          <a:latin typeface="+mn-lt"/>
          <a:ea typeface="+mn-ea"/>
          <a:cs typeface="+mn-cs"/>
        </a:defRPr>
      </a:lvl3pPr>
      <a:lvl4pPr marL="742950" indent="-114300" algn="l" rtl="0" fontAlgn="base">
        <a:lnSpc>
          <a:spcPct val="95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14400" indent="-114300" algn="l" rtl="0" fontAlgn="base">
        <a:lnSpc>
          <a:spcPct val="95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-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ubtitle 2">
            <a:extLst>
              <a:ext uri="{FF2B5EF4-FFF2-40B4-BE49-F238E27FC236}">
                <a16:creationId xmlns:a16="http://schemas.microsoft.com/office/drawing/2014/main" id="{728E727D-7750-45E5-8719-596A1AFD1445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1584325" y="4724400"/>
            <a:ext cx="6324600" cy="1295400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59739" marR="0" lvl="0" indent="0" algn="ctr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Chapter 8</a:t>
            </a:r>
          </a:p>
          <a:p>
            <a:pPr marL="59739" marR="0" lvl="0" indent="0" algn="ctr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Advanced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A99AA37-DF51-44BE-84B6-44C2177D1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39DDE91-B233-4C9F-950D-372974FF8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306762"/>
          </a:xfrm>
        </p:spPr>
        <p:txBody>
          <a:bodyPr/>
          <a:lstStyle/>
          <a:p>
            <a:r>
              <a:rPr lang="en-US" altLang="en-US"/>
              <a:t>After completing this chapter, you will be able to:</a:t>
            </a:r>
          </a:p>
          <a:p>
            <a:pPr lvl="1"/>
            <a:r>
              <a:rPr lang="en-US" altLang="en-US"/>
              <a:t>Use SQL to create a table manually</a:t>
            </a:r>
          </a:p>
          <a:p>
            <a:pPr lvl="1"/>
            <a:r>
              <a:rPr lang="en-US" altLang="en-US"/>
              <a:t>Use SQL to create a copy of a table using a subquery</a:t>
            </a:r>
          </a:p>
          <a:p>
            <a:pPr lvl="1"/>
            <a:r>
              <a:rPr lang="en-US" altLang="en-US"/>
              <a:t>Manipulate the structure of existing tables to add, modify, and remove columns and constraints</a:t>
            </a:r>
          </a:p>
          <a:p>
            <a:pPr lvl="1"/>
            <a:r>
              <a:rPr lang="en-US" altLang="en-US"/>
              <a:t>Use SQL to do data manipulation (insert, update, and delete rows of data)</a:t>
            </a:r>
          </a:p>
          <a:p>
            <a:pPr lvl="1"/>
            <a:r>
              <a:rPr lang="en-US" altLang="en-US"/>
              <a:t>Use SQL to create database views, including updatable views</a:t>
            </a:r>
          </a:p>
          <a:p>
            <a:pPr lvl="1"/>
            <a:r>
              <a:rPr lang="en-US" altLang="en-US"/>
              <a:t>Use Procedural Language SQL (PL/SQL) to create triggers, stored procedures, and PL/SQL functions</a:t>
            </a:r>
          </a:p>
          <a:p>
            <a:pPr lvl="1"/>
            <a:r>
              <a:rPr lang="en-US" altLang="en-US"/>
              <a:t>Create embedded SQL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58D37-13F6-4E82-971E-87126B7C74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2">
            <a:extLst>
              <a:ext uri="{FF2B5EF4-FFF2-40B4-BE49-F238E27FC236}">
                <a16:creationId xmlns:a16="http://schemas.microsoft.com/office/drawing/2014/main" id="{65D4937D-07AB-4ED1-B2FC-DDA7B8E8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Data Definition Commands (1 of 3)</a:t>
            </a:r>
          </a:p>
        </p:txBody>
      </p:sp>
      <p:sp>
        <p:nvSpPr>
          <p:cNvPr id="15363" name="Content Placeholder 1">
            <a:extLst>
              <a:ext uri="{FF2B5EF4-FFF2-40B4-BE49-F238E27FC236}">
                <a16:creationId xmlns:a16="http://schemas.microsoft.com/office/drawing/2014/main" id="{4E6E800D-D6EF-43F2-83CA-0258476AE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624262"/>
          </a:xfrm>
        </p:spPr>
        <p:txBody>
          <a:bodyPr/>
          <a:lstStyle/>
          <a:p>
            <a:r>
              <a:rPr lang="en-US" altLang="en-US"/>
              <a:t>Starting database model</a:t>
            </a:r>
          </a:p>
          <a:p>
            <a:pPr lvl="1"/>
            <a:r>
              <a:rPr lang="en-US" altLang="en-US"/>
              <a:t>Refer to Figure 8.1 </a:t>
            </a:r>
          </a:p>
          <a:p>
            <a:r>
              <a:rPr lang="en-US" altLang="en-US"/>
              <a:t>Creating the database</a:t>
            </a:r>
          </a:p>
          <a:p>
            <a:pPr lvl="1"/>
            <a:r>
              <a:rPr lang="en-US" altLang="en-US"/>
              <a:t>Before a new RDBMS can be used, the database structure and the tables that will hold the end-user data must be created </a:t>
            </a:r>
          </a:p>
          <a:p>
            <a:r>
              <a:rPr lang="de-DE" altLang="en-US"/>
              <a:t>The database schema</a:t>
            </a:r>
          </a:p>
          <a:p>
            <a:pPr lvl="1"/>
            <a:r>
              <a:rPr lang="en-US" altLang="en-US"/>
              <a:t>Logical group of database objects—such as tables and indexes—that are related to each other</a:t>
            </a:r>
            <a:endParaRPr lang="de-DE" altLang="en-US"/>
          </a:p>
          <a:p>
            <a:r>
              <a:rPr lang="en-US" altLang="en-US"/>
              <a:t>Data types</a:t>
            </a:r>
          </a:p>
          <a:p>
            <a:pPr lvl="1"/>
            <a:r>
              <a:rPr lang="en-US" altLang="en-US"/>
              <a:t>Character, numeric, and date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A58FE-6B5A-4CEF-A1F3-0A7FBB9B8E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2">
            <a:extLst>
              <a:ext uri="{FF2B5EF4-FFF2-40B4-BE49-F238E27FC236}">
                <a16:creationId xmlns:a16="http://schemas.microsoft.com/office/drawing/2014/main" id="{0086CFFF-DF33-4B4E-86D6-0113FC4B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Data Definition Commands (2 of 3)</a:t>
            </a:r>
          </a:p>
        </p:txBody>
      </p:sp>
      <p:pic>
        <p:nvPicPr>
          <p:cNvPr id="6" name="Picture 5" descr="Figure 8.1 depicts a simple database model composed of CUSTOMER, INVOICE, LINE, PRODUCT, and VENDOR tables. " title="Figure 8.1">
            <a:extLst>
              <a:ext uri="{FF2B5EF4-FFF2-40B4-BE49-F238E27FC236}">
                <a16:creationId xmlns:a16="http://schemas.microsoft.com/office/drawing/2014/main" id="{4D041044-D7F5-4791-A7F6-B969F70C2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63" y="1447800"/>
            <a:ext cx="6934200" cy="40497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72399F-1CF3-40BF-B519-17F1FBF1A7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2">
            <a:extLst>
              <a:ext uri="{FF2B5EF4-FFF2-40B4-BE49-F238E27FC236}">
                <a16:creationId xmlns:a16="http://schemas.microsoft.com/office/drawing/2014/main" id="{CE03D76D-6ED0-40EC-8BF4-7503DB01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Data Definition Commands (3 of 3)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16DCA67-392C-443C-80D9-A3AFA89434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063" y="1323975"/>
          <a:ext cx="8415338" cy="4734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275">
                  <a:extLst>
                    <a:ext uri="{9D8B030D-6E8A-4147-A177-3AD203B41FA5}">
                      <a16:colId xmlns:a16="http://schemas.microsoft.com/office/drawing/2014/main" val="281181086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10001177"/>
                    </a:ext>
                  </a:extLst>
                </a:gridCol>
                <a:gridCol w="5503863">
                  <a:extLst>
                    <a:ext uri="{9D8B030D-6E8A-4147-A177-3AD203B41FA5}">
                      <a16:colId xmlns:a16="http://schemas.microsoft.com/office/drawing/2014/main" val="2819496126"/>
                    </a:ext>
                  </a:extLst>
                </a:gridCol>
              </a:tblGrid>
              <a:tr h="426663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TABLE 8.1: Some Common SQL Data Types</a:t>
                      </a:r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451914"/>
                  </a:ext>
                </a:extLst>
              </a:tr>
              <a:tr h="370790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Data Type</a:t>
                      </a:r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Format</a:t>
                      </a:r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 marT="45714" marB="4571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502433"/>
                  </a:ext>
                </a:extLst>
              </a:tr>
              <a:tr h="594280">
                <a:tc>
                  <a:txBody>
                    <a:bodyPr/>
                    <a:lstStyle/>
                    <a:p>
                      <a:r>
                        <a:rPr lang="en-US" sz="1100" b="1" dirty="0"/>
                        <a:t>Numeric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NUMBER(L,D)</a:t>
                      </a:r>
                    </a:p>
                    <a:p>
                      <a:r>
                        <a:rPr lang="en-US" sz="1100" dirty="0"/>
                        <a:t>or</a:t>
                      </a:r>
                    </a:p>
                    <a:p>
                      <a:r>
                        <a:rPr lang="en-US" sz="1100" dirty="0"/>
                        <a:t>NUMERIC(L,D)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The declaration NUMBER(7,2) or NUMERIC(7,2) indicates that numbers will be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stored with two decimal places and may be up to seven digits long, including the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sign and the decimal place (for example, 12.32 or −134.99).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3274897842"/>
                  </a:ext>
                </a:extLst>
              </a:tr>
              <a:tr h="426663"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INTEGER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be abbreviated as INT. Integers are (whole) counting numbers, so they cannot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be used if you want to store numbers that require decimal places.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2610049795"/>
                  </a:ext>
                </a:extLst>
              </a:tr>
              <a:tr h="426663"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SMALLINT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Like INTEGER but limited to integer values up to six digits. If your integer values are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relatively small, use SMALLINT instead of INT.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300990200"/>
                  </a:ext>
                </a:extLst>
              </a:tr>
              <a:tr h="594280"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DECIMAL(L,D)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Like the NUMBER specification, but the storage length is a minimum specification.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That is, greater lengths are acceptable, but smaller ones are not. DECIMAL(9,2),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DECIMAL(9), and DECIMAL are all acceptable.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2271572296"/>
                  </a:ext>
                </a:extLst>
              </a:tr>
              <a:tr h="929515">
                <a:tc>
                  <a:txBody>
                    <a:bodyPr/>
                    <a:lstStyle/>
                    <a:p>
                      <a:r>
                        <a:rPr lang="en-US" sz="1100" b="1" dirty="0"/>
                        <a:t>Character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CHAR(L)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Fixed-length character data for up to 255 characters. If you store strings that are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not as long as the CHAR parameter value, the remaining spaces are left unused.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Therefore, if you specify CHAR(25), strings such as Smith and Katzenjammer are each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stored as 25 characters. However, a U.S. area code is always three digits long, so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CHAR(3) would be appropriate if you wanted to store such codes.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3965991132"/>
                  </a:ext>
                </a:extLst>
              </a:tr>
              <a:tr h="594280">
                <a:tc>
                  <a:txBody>
                    <a:bodyPr/>
                    <a:lstStyle/>
                    <a:p>
                      <a:endParaRPr lang="en-US" sz="1100" b="1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VARCHAR(L) or</a:t>
                      </a:r>
                    </a:p>
                    <a:p>
                      <a:r>
                        <a:rPr lang="en-US" sz="1100" dirty="0"/>
                        <a:t>VARCHAR2(L)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Variable-length character data. T he designation VARCHAR2(25) or VARCHAR(25) will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let you store characters up to 25 characters long. However, unlike CHAR, VARCHAR</a:t>
                      </a:r>
                      <a:r>
                        <a:rPr lang="en-US" sz="1100" baseline="0" dirty="0"/>
                        <a:t> </a:t>
                      </a:r>
                      <a:r>
                        <a:rPr lang="en-US" sz="1100" dirty="0"/>
                        <a:t>will not leave unused spaces. Oracle automatically converts VARCHAR to VARCHAR2.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4078911285"/>
                  </a:ext>
                </a:extLst>
              </a:tr>
              <a:tr h="370790">
                <a:tc>
                  <a:txBody>
                    <a:bodyPr/>
                    <a:lstStyle/>
                    <a:p>
                      <a:r>
                        <a:rPr lang="en-US" sz="1100" b="1" dirty="0"/>
                        <a:t>Date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DATE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Stores dates in the Julian date format.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2684640667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BE343-FF34-402D-A6A1-051E867029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2">
            <a:extLst>
              <a:ext uri="{FF2B5EF4-FFF2-40B4-BE49-F238E27FC236}">
                <a16:creationId xmlns:a16="http://schemas.microsoft.com/office/drawing/2014/main" id="{FBBC92E8-E275-493D-B99E-04F7A158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Creating Table Structures (1 of 2)</a:t>
            </a:r>
          </a:p>
        </p:txBody>
      </p:sp>
      <p:sp>
        <p:nvSpPr>
          <p:cNvPr id="18435" name="Content Placeholder 1">
            <a:extLst>
              <a:ext uri="{FF2B5EF4-FFF2-40B4-BE49-F238E27FC236}">
                <a16:creationId xmlns:a16="http://schemas.microsoft.com/office/drawing/2014/main" id="{79DD2587-0D2A-4C61-B94A-6A0A746FE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4138612"/>
          </a:xfrm>
        </p:spPr>
        <p:txBody>
          <a:bodyPr/>
          <a:lstStyle/>
          <a:p>
            <a:r>
              <a:rPr lang="en-US" altLang="en-US"/>
              <a:t>CREATE TABLE command</a:t>
            </a:r>
          </a:p>
          <a:p>
            <a:pPr marL="457200" lvl="2" indent="0">
              <a:buFont typeface="Arial" panose="020B0604020202020204" pitchFamily="34" charset="0"/>
              <a:buNone/>
            </a:pPr>
            <a:r>
              <a:rPr lang="en-US" altLang="en-US"/>
              <a:t>	CREATE TABLE </a:t>
            </a:r>
            <a:r>
              <a:rPr lang="en-US" altLang="en-US" i="1"/>
              <a:t>tablename</a:t>
            </a:r>
            <a:r>
              <a:rPr lang="en-US" altLang="en-US"/>
              <a:t> (</a:t>
            </a:r>
          </a:p>
          <a:p>
            <a:pPr marL="457200" lvl="2" indent="0">
              <a:buFont typeface="Arial" panose="020B0604020202020204" pitchFamily="34" charset="0"/>
              <a:buNone/>
            </a:pPr>
            <a:r>
              <a:rPr lang="en-US" altLang="en-US"/>
              <a:t>	</a:t>
            </a:r>
            <a:r>
              <a:rPr lang="en-US" altLang="en-US" i="1"/>
              <a:t>column1 		data type </a:t>
            </a:r>
            <a:r>
              <a:rPr lang="en-US" altLang="en-US"/>
              <a:t>		[</a:t>
            </a:r>
            <a:r>
              <a:rPr lang="en-US" altLang="en-US" i="1"/>
              <a:t>constraint</a:t>
            </a:r>
            <a:r>
              <a:rPr lang="en-US" altLang="en-US"/>
              <a:t>] [,</a:t>
            </a:r>
          </a:p>
          <a:p>
            <a:pPr marL="457200" lvl="2" indent="0">
              <a:buFont typeface="Arial" panose="020B0604020202020204" pitchFamily="34" charset="0"/>
              <a:buNone/>
            </a:pPr>
            <a:r>
              <a:rPr lang="en-US" altLang="en-US"/>
              <a:t>	</a:t>
            </a:r>
            <a:r>
              <a:rPr lang="en-US" altLang="en-US" i="1"/>
              <a:t>column2 		data type </a:t>
            </a:r>
            <a:r>
              <a:rPr lang="en-US" altLang="en-US"/>
              <a:t>		[</a:t>
            </a:r>
            <a:r>
              <a:rPr lang="en-US" altLang="en-US" i="1"/>
              <a:t>constraint</a:t>
            </a:r>
            <a:r>
              <a:rPr lang="en-US" altLang="en-US"/>
              <a:t>] ] [,</a:t>
            </a:r>
          </a:p>
          <a:p>
            <a:pPr marL="457200" lvl="2" indent="0">
              <a:buFont typeface="Arial" panose="020B0604020202020204" pitchFamily="34" charset="0"/>
              <a:buNone/>
            </a:pPr>
            <a:r>
              <a:rPr lang="en-US" altLang="en-US"/>
              <a:t>	PRIMARY KEY	(</a:t>
            </a:r>
            <a:r>
              <a:rPr lang="en-US" altLang="en-US" i="1"/>
              <a:t>column1</a:t>
            </a:r>
            <a:r>
              <a:rPr lang="en-US" altLang="en-US"/>
              <a:t> 		[, </a:t>
            </a:r>
            <a:r>
              <a:rPr lang="en-US" altLang="en-US" i="1"/>
              <a:t>column2</a:t>
            </a:r>
            <a:r>
              <a:rPr lang="en-US" altLang="en-US"/>
              <a:t>]) ] [,</a:t>
            </a:r>
          </a:p>
          <a:p>
            <a:pPr marL="457200" lvl="2" indent="0">
              <a:buFont typeface="Arial" panose="020B0604020202020204" pitchFamily="34" charset="0"/>
              <a:buNone/>
            </a:pPr>
            <a:r>
              <a:rPr lang="en-US" altLang="en-US"/>
              <a:t>	FOREIGN KEY	(</a:t>
            </a:r>
            <a:r>
              <a:rPr lang="en-US" altLang="en-US" i="1"/>
              <a:t>column1 	</a:t>
            </a:r>
            <a:r>
              <a:rPr lang="en-US" altLang="en-US"/>
              <a:t>	[,</a:t>
            </a:r>
            <a:r>
              <a:rPr lang="en-US" altLang="en-US" i="1"/>
              <a:t> column2</a:t>
            </a:r>
            <a:r>
              <a:rPr lang="en-US" altLang="en-US"/>
              <a:t>]) REFERENCES </a:t>
            </a:r>
            <a:r>
              <a:rPr lang="en-US" altLang="en-US" i="1"/>
              <a:t>tablename</a:t>
            </a:r>
            <a:r>
              <a:rPr lang="en-US" altLang="en-US"/>
              <a:t>] [,</a:t>
            </a:r>
          </a:p>
          <a:p>
            <a:pPr marL="457200" lvl="2" indent="0">
              <a:buFont typeface="Arial" panose="020B0604020202020204" pitchFamily="34" charset="0"/>
              <a:buNone/>
            </a:pPr>
            <a:r>
              <a:rPr lang="en-US" altLang="en-US"/>
              <a:t>	CONSTRAINT </a:t>
            </a:r>
            <a:r>
              <a:rPr lang="en-US" altLang="en-US" i="1"/>
              <a:t>	constraint </a:t>
            </a:r>
            <a:r>
              <a:rPr lang="en-US" altLang="en-US"/>
              <a:t>] );</a:t>
            </a:r>
          </a:p>
          <a:p>
            <a:r>
              <a:rPr lang="en-US" altLang="en-US"/>
              <a:t>SQL constraints</a:t>
            </a:r>
          </a:p>
          <a:p>
            <a:pPr lvl="1"/>
            <a:r>
              <a:rPr lang="en-US" altLang="en-US"/>
              <a:t>FOREIGN KEY</a:t>
            </a:r>
          </a:p>
          <a:p>
            <a:pPr lvl="1"/>
            <a:r>
              <a:rPr lang="en-US" altLang="en-US"/>
              <a:t>NOT NULL</a:t>
            </a:r>
          </a:p>
          <a:p>
            <a:pPr lvl="1"/>
            <a:r>
              <a:rPr lang="en-US" altLang="en-US"/>
              <a:t>UNIQUE</a:t>
            </a:r>
          </a:p>
          <a:p>
            <a:pPr lvl="1"/>
            <a:r>
              <a:rPr lang="en-US" altLang="en-US"/>
              <a:t>DEFAULT </a:t>
            </a:r>
          </a:p>
          <a:p>
            <a:pPr lvl="1"/>
            <a:r>
              <a:rPr lang="en-US" altLang="en-US"/>
              <a:t>CHECK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620A3-F1C4-47CF-BB15-73958AE452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>
            <a:extLst>
              <a:ext uri="{FF2B5EF4-FFF2-40B4-BE49-F238E27FC236}">
                <a16:creationId xmlns:a16="http://schemas.microsoft.com/office/drawing/2014/main" id="{2202C679-35B4-4DBA-89E9-50843E7D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Creating Table Structures (2 of 2)</a:t>
            </a:r>
          </a:p>
        </p:txBody>
      </p:sp>
      <p:sp>
        <p:nvSpPr>
          <p:cNvPr id="19459" name="Content Placeholder 1">
            <a:extLst>
              <a:ext uri="{FF2B5EF4-FFF2-40B4-BE49-F238E27FC236}">
                <a16:creationId xmlns:a16="http://schemas.microsoft.com/office/drawing/2014/main" id="{CECE284E-F810-49BA-9938-6E9B40202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362200"/>
          </a:xfrm>
        </p:spPr>
        <p:txBody>
          <a:bodyPr/>
          <a:lstStyle/>
          <a:p>
            <a:r>
              <a:rPr lang="en-US" altLang="en-US"/>
              <a:t>Create a table with a SELECT statement</a:t>
            </a:r>
          </a:p>
          <a:p>
            <a:pPr lvl="1"/>
            <a:r>
              <a:rPr lang="en-US" altLang="en-US"/>
              <a:t>Rapidly creates a new table based on selected columns and rows of an existing table using a subquery</a:t>
            </a:r>
          </a:p>
          <a:p>
            <a:pPr lvl="1"/>
            <a:r>
              <a:rPr lang="en-US" altLang="en-US"/>
              <a:t>Automatically copies all of the data rows returned</a:t>
            </a:r>
          </a:p>
          <a:p>
            <a:r>
              <a:rPr lang="en-US" altLang="en-US"/>
              <a:t>SQL indexes</a:t>
            </a:r>
          </a:p>
          <a:p>
            <a:pPr lvl="1"/>
            <a:r>
              <a:rPr lang="en-US" altLang="en-US"/>
              <a:t>CREATE INDEX improves the efficiency of searches and avoids duplicate column values</a:t>
            </a:r>
          </a:p>
          <a:p>
            <a:pPr lvl="1"/>
            <a:r>
              <a:rPr lang="en-US" altLang="en-US"/>
              <a:t>DROP Index deletes an index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33DA8-4792-4289-89D0-86E48D3F9E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2">
            <a:extLst>
              <a:ext uri="{FF2B5EF4-FFF2-40B4-BE49-F238E27FC236}">
                <a16:creationId xmlns:a16="http://schemas.microsoft.com/office/drawing/2014/main" id="{1A2B2451-F18A-4608-8E29-C69049865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Altering Table Structures (1 of 3)</a:t>
            </a:r>
          </a:p>
        </p:txBody>
      </p:sp>
      <p:sp>
        <p:nvSpPr>
          <p:cNvPr id="20483" name="Content Placeholder 1">
            <a:extLst>
              <a:ext uri="{FF2B5EF4-FFF2-40B4-BE49-F238E27FC236}">
                <a16:creationId xmlns:a16="http://schemas.microsoft.com/office/drawing/2014/main" id="{1E8FC93D-3FFB-4B20-B2A1-9FBABBFBC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887787"/>
          </a:xfrm>
        </p:spPr>
        <p:txBody>
          <a:bodyPr/>
          <a:lstStyle/>
          <a:p>
            <a:r>
              <a:rPr lang="en-US" altLang="en-US"/>
              <a:t>All changes in the table structure are made by using the ALTER TABLE command followed by a keyword that produces the specific change you want to make</a:t>
            </a:r>
          </a:p>
          <a:p>
            <a:pPr lvl="1"/>
            <a:r>
              <a:rPr lang="en-US" altLang="en-US"/>
              <a:t>ADD, MODIFY, and DROP</a:t>
            </a:r>
          </a:p>
          <a:p>
            <a:r>
              <a:rPr lang="en-US" altLang="en-US"/>
              <a:t>Changing a column’s data type</a:t>
            </a:r>
          </a:p>
          <a:p>
            <a:pPr lvl="1"/>
            <a:r>
              <a:rPr lang="en-US" altLang="en-US"/>
              <a:t>ALTER </a:t>
            </a:r>
          </a:p>
          <a:p>
            <a:r>
              <a:rPr lang="en-US" altLang="en-US"/>
              <a:t>Changing a column’s data characteristics</a:t>
            </a:r>
          </a:p>
          <a:p>
            <a:pPr lvl="1"/>
            <a:r>
              <a:rPr lang="en-US" altLang="en-US"/>
              <a:t>If the column to be changed already contains data, you can make changes in the column’s characteristics if those changes do not alter the data type</a:t>
            </a:r>
          </a:p>
          <a:p>
            <a:r>
              <a:rPr lang="en-US" altLang="en-US"/>
              <a:t>Adding a column</a:t>
            </a:r>
          </a:p>
          <a:p>
            <a:pPr lvl="1"/>
            <a:r>
              <a:rPr lang="en-US" altLang="en-US"/>
              <a:t>You can alter an existing table by adding one or more columns</a:t>
            </a:r>
          </a:p>
          <a:p>
            <a:pPr lvl="1"/>
            <a:r>
              <a:rPr lang="en-US" altLang="en-US"/>
              <a:t>Be careful not to include the NOT NULL clause for the new column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87F0CD-53C7-4FA8-8151-7EF556076A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2">
            <a:extLst>
              <a:ext uri="{FF2B5EF4-FFF2-40B4-BE49-F238E27FC236}">
                <a16:creationId xmlns:a16="http://schemas.microsoft.com/office/drawing/2014/main" id="{3355FB96-9ADE-446A-9116-9557FC178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Altering Table Structures (2 of 3)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B65157-672C-44EA-B5C3-044ED4442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573462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Adding primary key, foreign key, and check constraints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Primary key syntax: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ALTER TABLE 	PART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ADD 		PRIMARY KEY (PART_CODE);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Foreign key syntax: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ALTER TABLE 	PART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ADD 		FOREIGN KEY (V_CODE) REFERENCES 						VENDOR;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Check constraint syntax:</a:t>
            </a:r>
          </a:p>
          <a:p>
            <a:pPr marL="800100" lvl="4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ALTER TABLE	PART</a:t>
            </a:r>
          </a:p>
          <a:p>
            <a:pPr marL="800100" lvl="4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ADD 		CHECK (PART_PRICE &gt;= 0);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FCFF4-D1D5-4804-BA20-26070B9BF3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>
            <a:extLst>
              <a:ext uri="{FF2B5EF4-FFF2-40B4-BE49-F238E27FC236}">
                <a16:creationId xmlns:a16="http://schemas.microsoft.com/office/drawing/2014/main" id="{BB18454A-58B3-4154-A8BD-26EC37DE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Altering Table Structures (3 of 3)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4A4D38-1B9C-457D-BB8F-F5839153A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439987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Dropping a column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Syntax: 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ALTER TABLE VENDOR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    DROP COLUMN V_ORDER;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Deleting a table from the database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Syntax: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DROP TABLE PART;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11EC4-CAF1-4417-84C5-CBC6FE714D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2">
            <a:extLst>
              <a:ext uri="{FF2B5EF4-FFF2-40B4-BE49-F238E27FC236}">
                <a16:creationId xmlns:a16="http://schemas.microsoft.com/office/drawing/2014/main" id="{6E35A8AD-9C9C-40B1-B39A-C40530A5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Data Manipulation Commands (1 of 2)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EA1CB1-A1C7-4044-ABE4-BB8E9B3D9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5173662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Adding table rows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INSERT command syntax: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INSERT INTO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tablename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VALUES (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value1, value2, …, valuen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Inserting rows with null attributes: use NULL entry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Inserting rows with optional attributes: indicate attributes that have required values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Inserting table rows with a SELECT subquery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multiple rows to a table, using another table as the source, at the same time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 syntax: 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INSERT INTO 	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target_tablename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[(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target_columnlist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)]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SELECT 		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source_columnlist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FROM 		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source_tablename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Saving table changes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COMMIT command syntax: 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COMMIT [WORK]</a:t>
            </a:r>
          </a:p>
          <a:p>
            <a:pPr lvl="4" fontAlgn="auto">
              <a:spcAft>
                <a:spcPts val="0"/>
              </a:spcAft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E2448-3189-4355-A4A6-7C0F5B94C8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2">
            <a:extLst>
              <a:ext uri="{FF2B5EF4-FFF2-40B4-BE49-F238E27FC236}">
                <a16:creationId xmlns:a16="http://schemas.microsoft.com/office/drawing/2014/main" id="{1AFCBDBF-F4AB-4C17-903C-6275618C6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Data Manipulation Commands (2 of 2)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3B53D2-9E98-4283-AB7B-F7B83B36D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4849812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Updating table rows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UPDATE command is used to modify data in a table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UPDATE syntax: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UPDATE 		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tablename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SET		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columnname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expression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[,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columnname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					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expression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[WHERE 		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conditionlist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];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Deleting table rows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DELETE statement syntax: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DELETE FROM 	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tablename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[WHERE 		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conditionlist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];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Restoring table contents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ROLLBACK command is used restore the database to its previous condition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ROLLBACK;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4F90C-AD4B-4EFE-9F0F-4884D11B09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9025BB0B-A96C-4CAE-9734-8512B0E60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Virtual Tables: Creating a View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D89F4966-16A4-49A9-8D72-B74C8BFA0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052637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View: virtual table based on a SELECT query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Base tables: tables on which the view is based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VIEW statement: data definition command that stores the subquery specification in the data dictionary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VIEW command syntax: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CREATE VIEW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viewname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SELECT 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14876-8154-4497-ADB5-B65C9204E6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8D1E73AF-068D-4F1A-B897-15D606E8A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Updatable Views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A5F2194D-7EF1-4422-977B-9633475A0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362200"/>
          </a:xfrm>
        </p:spPr>
        <p:txBody>
          <a:bodyPr/>
          <a:lstStyle/>
          <a:p>
            <a:r>
              <a:rPr lang="en-US" altLang="en-US"/>
              <a:t>Used to update attributes </a:t>
            </a:r>
          </a:p>
          <a:p>
            <a:pPr lvl="1"/>
            <a:r>
              <a:rPr lang="en-US" altLang="en-US"/>
              <a:t>Batch update routine: pools multiple transactions into a single batch to update a master table field in a single operation</a:t>
            </a:r>
          </a:p>
          <a:p>
            <a:r>
              <a:rPr lang="en-US" altLang="en-US"/>
              <a:t>Updatable view restrictions</a:t>
            </a:r>
          </a:p>
          <a:p>
            <a:pPr lvl="1"/>
            <a:r>
              <a:rPr lang="en-US" altLang="en-US"/>
              <a:t>GROUP BY expressions or aggregate functions cannot be used</a:t>
            </a:r>
          </a:p>
          <a:p>
            <a:pPr lvl="1"/>
            <a:r>
              <a:rPr lang="en-US" altLang="en-US"/>
              <a:t>Set operators cannot be used</a:t>
            </a:r>
          </a:p>
          <a:p>
            <a:pPr lvl="1"/>
            <a:r>
              <a:rPr lang="en-US" altLang="en-US"/>
              <a:t>Most restrictions are based on the use of JOINs or group operators in views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408FA-C4C4-4ADF-B079-4326876075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6BE752D2-BB44-4154-A0F8-4B0BC7B22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Sequences (1 of 2)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905FA21D-6734-4580-94A4-1AA0F2680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1993900"/>
          </a:xfrm>
        </p:spPr>
        <p:txBody>
          <a:bodyPr/>
          <a:lstStyle/>
          <a:p>
            <a:r>
              <a:rPr lang="en-US" altLang="en-US"/>
              <a:t>Many similarities in the use of sequences across these DBMSs</a:t>
            </a:r>
          </a:p>
          <a:p>
            <a:pPr lvl="1"/>
            <a:r>
              <a:rPr lang="en-US" altLang="en-US"/>
              <a:t>Independent object in the database</a:t>
            </a:r>
          </a:p>
          <a:p>
            <a:pPr lvl="1"/>
            <a:r>
              <a:rPr lang="en-US" altLang="en-US"/>
              <a:t>Have a name and can be used anywhere a value expected</a:t>
            </a:r>
          </a:p>
          <a:p>
            <a:pPr lvl="1"/>
            <a:r>
              <a:rPr lang="en-US" altLang="en-US"/>
              <a:t>Not tied to a table or column</a:t>
            </a:r>
          </a:p>
          <a:p>
            <a:pPr lvl="1"/>
            <a:r>
              <a:rPr lang="en-US" altLang="en-US"/>
              <a:t>Generate a numeric value that can be assigned to any column in any table</a:t>
            </a:r>
          </a:p>
          <a:p>
            <a:pPr lvl="1"/>
            <a:r>
              <a:rPr lang="en-US" altLang="en-US"/>
              <a:t>Table attribute with an assigned value can be edited and modified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A16D6-2E54-4112-B4D5-B5BDAD1CDA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D9B337FC-73BD-407D-BE66-770912F7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Sequences (2 of 2)</a:t>
            </a:r>
          </a:p>
        </p:txBody>
      </p:sp>
      <p:pic>
        <p:nvPicPr>
          <p:cNvPr id="3" name="Picture 2" descr="Figure 8.10 illustrates the output of a user checking the Oracle sequences they created." title="Figure 8.10">
            <a:extLst>
              <a:ext uri="{FF2B5EF4-FFF2-40B4-BE49-F238E27FC236}">
                <a16:creationId xmlns:a16="http://schemas.microsoft.com/office/drawing/2014/main" id="{D017DCD8-3EAE-4D09-88D2-3DC74E165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76400"/>
            <a:ext cx="8047038" cy="35290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5E876-6227-43B3-9960-A9A71C9B66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6AE65C88-EC5B-42B8-A504-E6FBE0F8E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Procedural SQL (1 of 3)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01661B28-DC88-4811-AED6-124FBAB82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052637"/>
          </a:xfrm>
        </p:spPr>
        <p:txBody>
          <a:bodyPr/>
          <a:lstStyle/>
          <a:p>
            <a:r>
              <a:rPr lang="en-US" altLang="en-US"/>
              <a:t>Performs a conditional or looping operation by isolating critical code and making all application programs call the shared code </a:t>
            </a:r>
          </a:p>
          <a:p>
            <a:pPr lvl="1"/>
            <a:r>
              <a:rPr lang="en-US" altLang="en-US"/>
              <a:t>Better maintenance and logic control</a:t>
            </a:r>
          </a:p>
          <a:p>
            <a:r>
              <a:rPr lang="en-US" altLang="en-US"/>
              <a:t>Persistent stored module (PSM): block of code </a:t>
            </a:r>
          </a:p>
          <a:p>
            <a:pPr lvl="1"/>
            <a:r>
              <a:rPr lang="en-US" altLang="en-US"/>
              <a:t>Contains standard SQL statements and procedural extensions that is stored and executed at the DBMS server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5471C-6F72-494C-B945-20B929362C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10FBDCF2-21FC-4A70-9F52-9BB37AA0C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Procedural SQL (2 of 3)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41F37C62-8158-45AD-BE91-CCBCB172E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779712"/>
          </a:xfrm>
        </p:spPr>
        <p:txBody>
          <a:bodyPr/>
          <a:lstStyle/>
          <a:p>
            <a:r>
              <a:rPr lang="en-US" altLang="en-US"/>
              <a:t>Procedural Language SQL (PL/SQL)</a:t>
            </a:r>
          </a:p>
          <a:p>
            <a:pPr lvl="1"/>
            <a:r>
              <a:rPr lang="en-US" altLang="en-US"/>
              <a:t>Use and storage of procedural code and SQL statements within the database</a:t>
            </a:r>
          </a:p>
          <a:p>
            <a:pPr lvl="1"/>
            <a:r>
              <a:rPr lang="en-US" altLang="en-US"/>
              <a:t>Merging of SQL and traditional programming constructs</a:t>
            </a:r>
          </a:p>
          <a:p>
            <a:r>
              <a:rPr lang="en-US" altLang="en-US"/>
              <a:t>Procedural code is executed as a unit by DBMS when invoked by end user</a:t>
            </a:r>
          </a:p>
          <a:p>
            <a:pPr lvl="1"/>
            <a:r>
              <a:rPr lang="en-US" altLang="en-US"/>
              <a:t>Anonymous PL/SQL blocks </a:t>
            </a:r>
          </a:p>
          <a:p>
            <a:pPr lvl="1"/>
            <a:r>
              <a:rPr lang="en-US" altLang="en-US"/>
              <a:t>Triggers</a:t>
            </a:r>
          </a:p>
          <a:p>
            <a:pPr lvl="1"/>
            <a:r>
              <a:rPr lang="en-US" altLang="en-US"/>
              <a:t>Stored procedures </a:t>
            </a:r>
          </a:p>
          <a:p>
            <a:pPr lvl="1"/>
            <a:r>
              <a:rPr lang="en-US" altLang="en-US"/>
              <a:t>PL/SQL functions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72B30-26B0-44F5-9EE5-8DC469EFAA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B1997A4D-E49F-4419-9BFF-D9BB0CB98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Procedural SQL (3 of 3)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A3D9FB0-F349-4131-8789-251D23C803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539875"/>
          <a:ext cx="8169275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5276">
                  <a:extLst>
                    <a:ext uri="{9D8B030D-6E8A-4147-A177-3AD203B41FA5}">
                      <a16:colId xmlns:a16="http://schemas.microsoft.com/office/drawing/2014/main" val="3388382361"/>
                    </a:ext>
                  </a:extLst>
                </a:gridCol>
                <a:gridCol w="5333999">
                  <a:extLst>
                    <a:ext uri="{9D8B030D-6E8A-4147-A177-3AD203B41FA5}">
                      <a16:colId xmlns:a16="http://schemas.microsoft.com/office/drawing/2014/main" val="3607059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Table 8.4</a:t>
                      </a:r>
                    </a:p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PL/SQL BASIC DATA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28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DATA TYPE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786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Character values of a fixed length; for example:</a:t>
                      </a:r>
                    </a:p>
                    <a:p>
                      <a:r>
                        <a:rPr lang="en-US" sz="1400" dirty="0"/>
                        <a:t>W_ZIP CHAR(5)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066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VARCHAR2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Variable-length character values; for example:</a:t>
                      </a:r>
                    </a:p>
                    <a:p>
                      <a:r>
                        <a:rPr lang="en-US" sz="1400" dirty="0"/>
                        <a:t>W_FNAME VARCHAR2(15)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179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Numeric values; for example:</a:t>
                      </a:r>
                    </a:p>
                    <a:p>
                      <a:r>
                        <a:rPr lang="en-US" sz="1400" dirty="0"/>
                        <a:t>W_PRICE NUMBER(6,2)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582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Date values; for example:</a:t>
                      </a:r>
                    </a:p>
                    <a:p>
                      <a:r>
                        <a:rPr lang="en-US" sz="1400" dirty="0"/>
                        <a:t>W_EMP_DOB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430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%TYPE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Inherits the data type from a variable that you declared previously or from an attribute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of a database table; for example:</a:t>
                      </a:r>
                    </a:p>
                    <a:p>
                      <a:r>
                        <a:rPr lang="en-US" sz="1400" dirty="0"/>
                        <a:t>W_PRICE PRODUCT.P_PRICE%TYPE</a:t>
                      </a:r>
                    </a:p>
                    <a:p>
                      <a:r>
                        <a:rPr lang="en-US" sz="1400" dirty="0"/>
                        <a:t>Assigns W_PRICE the same data type as the P_PRICE column in the PRODUCT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3524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2DAF5-6EDE-4784-A661-D651B8A8F1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0FB7E5C7-B0EA-4950-9708-B91FEB484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Triggers (1 of 2)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9FAAE113-C20C-4ABD-9546-F8B3EED7E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006725"/>
          </a:xfrm>
        </p:spPr>
        <p:txBody>
          <a:bodyPr/>
          <a:lstStyle/>
          <a:p>
            <a:r>
              <a:rPr lang="en-US" altLang="en-US"/>
              <a:t>Procedural SQL code automatically invoked by RDBMS when given data manipulation event occurs</a:t>
            </a:r>
          </a:p>
          <a:p>
            <a:r>
              <a:rPr lang="en-US" altLang="en-US"/>
              <a:t>Parts of a trigger definition</a:t>
            </a:r>
          </a:p>
          <a:p>
            <a:pPr lvl="1"/>
            <a:r>
              <a:rPr lang="en-US" altLang="en-US"/>
              <a:t>Triggering timing: indicates when trigger’s PL/SQL code executes</a:t>
            </a:r>
          </a:p>
          <a:p>
            <a:pPr lvl="1"/>
            <a:r>
              <a:rPr lang="en-US" altLang="en-US"/>
              <a:t>Triggering event: statement that causes the trigger to execute</a:t>
            </a:r>
          </a:p>
          <a:p>
            <a:pPr lvl="2"/>
            <a:r>
              <a:rPr lang="en-US" altLang="en-US"/>
              <a:t>Triggering level: statement- and row-level</a:t>
            </a:r>
          </a:p>
          <a:p>
            <a:pPr lvl="2"/>
            <a:r>
              <a:rPr lang="en-US" altLang="en-US"/>
              <a:t>Triggering action: PL/SQL code enclosed between the BEGIN and END keywords</a:t>
            </a:r>
          </a:p>
          <a:p>
            <a:pPr lvl="2"/>
            <a:endParaRPr lang="en-US" altLang="en-US"/>
          </a:p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C0D54-3AFD-4E18-8A86-51B300CF24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3401F79F-28A8-497F-B072-223380A49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Triggers (2 of 2)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B6BC22CB-CD0F-455E-BDD5-DF204C5BD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DROP TRIGGER trigger_name command</a:t>
            </a:r>
          </a:p>
          <a:p>
            <a:pPr lvl="1"/>
            <a:r>
              <a:rPr lang="en-US" altLang="en-US"/>
              <a:t>Deletes a trigger without deleting the table</a:t>
            </a:r>
          </a:p>
          <a:p>
            <a:r>
              <a:rPr lang="en-US" altLang="en-US"/>
              <a:t>Trigger action based on conditional DML predicates</a:t>
            </a:r>
          </a:p>
          <a:p>
            <a:pPr lvl="1"/>
            <a:r>
              <a:rPr lang="en-US" altLang="en-US"/>
              <a:t>Actions depend on the type of DML statement that fires the trigger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649F5-36F4-4D57-B3FB-0A89D600BE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3129C542-E5EC-47DE-9AB3-98F5BA66D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Stored Procedures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5018C17D-9710-4A1E-82DF-E50914DB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100262"/>
          </a:xfrm>
        </p:spPr>
        <p:txBody>
          <a:bodyPr/>
          <a:lstStyle/>
          <a:p>
            <a:r>
              <a:rPr lang="en-US" altLang="en-US"/>
              <a:t>Named collection of procedural and SQL statements</a:t>
            </a:r>
          </a:p>
          <a:p>
            <a:pPr lvl="1"/>
            <a:r>
              <a:rPr lang="en-US" altLang="en-US"/>
              <a:t>Stored in the database</a:t>
            </a:r>
          </a:p>
          <a:p>
            <a:pPr lvl="1"/>
            <a:r>
              <a:rPr lang="en-US" altLang="en-US"/>
              <a:t>Can be used to encapsulate and represent business transactions</a:t>
            </a:r>
          </a:p>
          <a:p>
            <a:r>
              <a:rPr lang="en-US" altLang="en-US"/>
              <a:t>Advantages</a:t>
            </a:r>
          </a:p>
          <a:p>
            <a:pPr lvl="1"/>
            <a:r>
              <a:rPr lang="en-US" altLang="en-US"/>
              <a:t>Reduce network traffic and increase performance</a:t>
            </a:r>
          </a:p>
          <a:p>
            <a:pPr lvl="1"/>
            <a:r>
              <a:rPr lang="en-US" altLang="en-US"/>
              <a:t>Decrease code duplication by means of code isolation and code sharing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C9536-BA53-4985-A7F1-3EE5D4BAF5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12418FD-8CE1-4AD3-9D40-2A715DA34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PL/SQL Processing with Cursors (1 of 3)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33FC40CA-F505-4C77-9A42-F3BD09CA4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732087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Cursor: special construct used to hold data rows returned by a SQL query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Implicit cursor: automatically created when SQL statement returns only one value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Explicit cursor: holds the output of a SQL statement that may return two or more rows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Syntax:</a:t>
            </a:r>
          </a:p>
          <a:p>
            <a:pPr marL="228600" lvl="1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CURSOR 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cursor_name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select-query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Cursor-style processing involves retrieving data from the cursor one row at a time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Current row is copied to PL/SQL variables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09E3C-7663-450B-BC68-97F07A0518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A393513D-AFD8-44FA-AB99-2B965E193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PL/SQL Processing with Cursors (2 of 3)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FB64E53-508F-4095-9C76-0CCA3B9441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063" y="1295400"/>
          <a:ext cx="8415337" cy="4491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7675">
                  <a:extLst>
                    <a:ext uri="{9D8B030D-6E8A-4147-A177-3AD203B41FA5}">
                      <a16:colId xmlns:a16="http://schemas.microsoft.com/office/drawing/2014/main" val="3332355076"/>
                    </a:ext>
                  </a:extLst>
                </a:gridCol>
                <a:gridCol w="5427662">
                  <a:extLst>
                    <a:ext uri="{9D8B030D-6E8A-4147-A177-3AD203B41FA5}">
                      <a16:colId xmlns:a16="http://schemas.microsoft.com/office/drawing/2014/main" val="1208144019"/>
                    </a:ext>
                  </a:extLst>
                </a:gridCol>
              </a:tblGrid>
              <a:tr h="457232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Table 8.5</a:t>
                      </a:r>
                    </a:p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Cursor Processing Commands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989465038"/>
                  </a:ext>
                </a:extLst>
              </a:tr>
              <a:tr h="370866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Cursor Command</a:t>
                      </a:r>
                    </a:p>
                  </a:txBody>
                  <a:tcPr marT="45723" marB="45723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Explanation</a:t>
                      </a:r>
                    </a:p>
                  </a:txBody>
                  <a:tcPr marT="45723" marB="45723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73670"/>
                  </a:ext>
                </a:extLst>
              </a:tr>
              <a:tr h="1005911">
                <a:tc>
                  <a:txBody>
                    <a:bodyPr/>
                    <a:lstStyle/>
                    <a:p>
                      <a:r>
                        <a:rPr lang="en-US" sz="1200" dirty="0"/>
                        <a:t>OPEN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Opening the cursor executes the SQL command and populates the cursor with data,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opening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the cursor for processing. The cursor declaration command only reserves a named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memory area for the cursor; it does not populate the cursor with the data. Before you can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use a cursor, you need to open it. For example:</a:t>
                      </a:r>
                    </a:p>
                    <a:p>
                      <a:r>
                        <a:rPr lang="en-US" sz="1200" dirty="0"/>
                        <a:t>OPEN </a:t>
                      </a:r>
                      <a:r>
                        <a:rPr lang="en-US" sz="1200" i="1" dirty="0"/>
                        <a:t>cursor_name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951509753"/>
                  </a:ext>
                </a:extLst>
              </a:tr>
              <a:tr h="2286162">
                <a:tc>
                  <a:txBody>
                    <a:bodyPr/>
                    <a:lstStyle/>
                    <a:p>
                      <a:r>
                        <a:rPr lang="en-US" sz="1200" dirty="0"/>
                        <a:t>FETCH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Once the cursor is opened, you can use the FETCH command to retrieve data from the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cursor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and copy it to the PL/SQL variables for processing. T he syntax is:</a:t>
                      </a:r>
                    </a:p>
                    <a:p>
                      <a:r>
                        <a:rPr lang="en-US" sz="1200" dirty="0"/>
                        <a:t>FETCH cursor_name INTO variable1 [, variable2, …]</a:t>
                      </a:r>
                    </a:p>
                    <a:p>
                      <a:r>
                        <a:rPr lang="en-US" sz="1200" dirty="0"/>
                        <a:t>   The PL/SQL variables used to hold the data must be declared in the DECLARE section and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must have data types compatible with the columns retrieved by the SQL command. If the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cursor’s SQL statement returns five columns, there must be five  PL/SQL variables to receive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the data from the cursor.</a:t>
                      </a:r>
                    </a:p>
                    <a:p>
                      <a:r>
                        <a:rPr lang="en-US" sz="1200" dirty="0"/>
                        <a:t>   This type of processing resembles the one-record-at-a-time processing used in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previous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database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models. The first time you fetch a row from the cursor, the first row of data from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the cursor is copied to the PL/SQL variables; the second time you fetch a row from the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cursor,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the second row of data is placed in the PL/SQL variables; and so on.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4248049494"/>
                  </a:ext>
                </a:extLst>
              </a:tr>
              <a:tr h="370866">
                <a:tc>
                  <a:txBody>
                    <a:bodyPr/>
                    <a:lstStyle/>
                    <a:p>
                      <a:r>
                        <a:rPr lang="en-US" sz="1200" dirty="0"/>
                        <a:t>CLOSE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CLOSE command closes the cursor for processing.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936536145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82081-647D-45CD-8640-063E3A0CFC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C283A603-0A82-48EF-9CB6-F773A028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PL/SQL Processing with Cursors (3 of 3)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CA7BBA6-E98F-46FB-B0B5-EEE35B78D8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5125" y="1538288"/>
          <a:ext cx="8415338" cy="375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875">
                  <a:extLst>
                    <a:ext uri="{9D8B030D-6E8A-4147-A177-3AD203B41FA5}">
                      <a16:colId xmlns:a16="http://schemas.microsoft.com/office/drawing/2014/main" val="182638841"/>
                    </a:ext>
                  </a:extLst>
                </a:gridCol>
                <a:gridCol w="6494463">
                  <a:extLst>
                    <a:ext uri="{9D8B030D-6E8A-4147-A177-3AD203B41FA5}">
                      <a16:colId xmlns:a16="http://schemas.microsoft.com/office/drawing/2014/main" val="1910646820"/>
                    </a:ext>
                  </a:extLst>
                </a:gridCol>
              </a:tblGrid>
              <a:tr h="5791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Table 8.6</a:t>
                      </a:r>
                    </a:p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Cursor Attributes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2779481924"/>
                  </a:ext>
                </a:extLst>
              </a:tr>
              <a:tr h="370871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Attribute</a:t>
                      </a:r>
                    </a:p>
                  </a:txBody>
                  <a:tcPr marT="45724" marB="45724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T="45724" marB="45724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20895"/>
                  </a:ext>
                </a:extLst>
              </a:tr>
              <a:tr h="823029">
                <a:tc>
                  <a:txBody>
                    <a:bodyPr/>
                    <a:lstStyle/>
                    <a:p>
                      <a:r>
                        <a:rPr lang="en-US" sz="1600" dirty="0"/>
                        <a:t>%ROWCOUNT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Returns the number of rows fetched so far. If the cursor is not OPEN, it returns an error. If no FETCH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has been done but the cursor is OPEN, it returns 0.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4159312384"/>
                  </a:ext>
                </a:extLst>
              </a:tr>
              <a:tr h="579169">
                <a:tc>
                  <a:txBody>
                    <a:bodyPr/>
                    <a:lstStyle/>
                    <a:p>
                      <a:r>
                        <a:rPr lang="en-US" sz="1600" dirty="0"/>
                        <a:t>%FOUND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Returns TRUE if the last FETCH returned a row, and FALSE if not. If the cursor is not OPEN, it returns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an error. If no FETCH has been done, it contains NULL.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50670444"/>
                  </a:ext>
                </a:extLst>
              </a:tr>
              <a:tr h="823029">
                <a:tc>
                  <a:txBody>
                    <a:bodyPr/>
                    <a:lstStyle/>
                    <a:p>
                      <a:r>
                        <a:rPr lang="en-US" sz="1600" dirty="0"/>
                        <a:t>%NOT FOUND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Returns TRUE if the last FETCH did not return any row, and FALSE if it did. If the cursor is not OPEN,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it returns an error. If no FETCH has been done, it contains NULL.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3064072704"/>
                  </a:ext>
                </a:extLst>
              </a:tr>
              <a:tr h="579169">
                <a:tc>
                  <a:txBody>
                    <a:bodyPr/>
                    <a:lstStyle/>
                    <a:p>
                      <a:r>
                        <a:rPr lang="en-US" sz="1600" dirty="0"/>
                        <a:t>%ISOPEN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Returns TRUE if the cursor is open (ready for processing) or FALSE if the cursor is closed.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dirty="0"/>
                        <a:t>Remember, before you can use a cursor, you must open it.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954253950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6ED42-8E36-46A4-B9C5-2BC206AC05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3D73E4F0-E287-498B-8B5E-71C0DC90B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PL/SQL Stored Functions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8E494806-4EC6-4B5A-992B-F8E75601F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1974850"/>
          </a:xfrm>
        </p:spPr>
        <p:txBody>
          <a:bodyPr/>
          <a:lstStyle/>
          <a:p>
            <a:r>
              <a:rPr lang="en-US" altLang="en-US"/>
              <a:t>Stored function: named group of procedural and SQL statements that returns a value</a:t>
            </a:r>
          </a:p>
          <a:p>
            <a:pPr lvl="1"/>
            <a:r>
              <a:rPr lang="en-US" altLang="en-US"/>
              <a:t>Indicated by a RETURN statement in its program code</a:t>
            </a:r>
          </a:p>
          <a:p>
            <a:r>
              <a:rPr lang="en-US" altLang="en-US"/>
              <a:t>Can be invoked only from within stored procedures or triggers</a:t>
            </a:r>
          </a:p>
          <a:p>
            <a:pPr lvl="1"/>
            <a:r>
              <a:rPr lang="en-US" altLang="en-US"/>
              <a:t>Cannot be invoked from SQL statements unless the function follows some very specific compliance rules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B3C2A-CD26-462C-85D2-1BBD04ADDA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F36F1005-FDDA-41A2-B03C-390D7D36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"/>
            <a:ext cx="8026400" cy="863600"/>
          </a:xfrm>
        </p:spPr>
        <p:txBody>
          <a:bodyPr/>
          <a:lstStyle/>
          <a:p>
            <a:br>
              <a:rPr lang="en-US" altLang="en-US"/>
            </a:br>
            <a:r>
              <a:rPr lang="en-US" altLang="en-US"/>
              <a:t>Embedded SQL (1 of 4)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F0DA9FA8-C660-4B5D-9B84-107ABE24F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4081462"/>
          </a:xfrm>
        </p:spPr>
        <p:txBody>
          <a:bodyPr/>
          <a:lstStyle/>
          <a:p>
            <a:r>
              <a:rPr lang="en-US" altLang="en-US"/>
              <a:t>SQL statements contained within an application programming language</a:t>
            </a:r>
          </a:p>
          <a:p>
            <a:pPr lvl="1"/>
            <a:r>
              <a:rPr lang="en-US" altLang="en-US"/>
              <a:t>Host language: any language that contains embedded SQL statements</a:t>
            </a:r>
          </a:p>
          <a:p>
            <a:r>
              <a:rPr lang="en-US" altLang="en-US"/>
              <a:t>Differences between SQL and procedural languages</a:t>
            </a:r>
          </a:p>
          <a:p>
            <a:pPr lvl="1"/>
            <a:r>
              <a:rPr lang="en-US" altLang="en-US"/>
              <a:t>Run-time mismatch</a:t>
            </a:r>
          </a:p>
          <a:p>
            <a:pPr lvl="2"/>
            <a:r>
              <a:rPr lang="en-US" altLang="en-US"/>
              <a:t>SQL is executed one instruction at a time</a:t>
            </a:r>
          </a:p>
          <a:p>
            <a:pPr lvl="2"/>
            <a:r>
              <a:rPr lang="en-US" altLang="en-US"/>
              <a:t>Host language runs at client side in its own memory space</a:t>
            </a:r>
          </a:p>
          <a:p>
            <a:pPr lvl="1"/>
            <a:r>
              <a:rPr lang="en-US" altLang="en-US"/>
              <a:t>Processing mismatch</a:t>
            </a:r>
          </a:p>
          <a:p>
            <a:pPr lvl="2"/>
            <a:r>
              <a:rPr lang="en-US" altLang="en-US"/>
              <a:t>Conventional programming languages process one data element at a time</a:t>
            </a:r>
          </a:p>
          <a:p>
            <a:pPr lvl="2"/>
            <a:r>
              <a:rPr lang="en-US" altLang="en-US"/>
              <a:t>Newer programming environments manipulate data sets in a cohesive manner</a:t>
            </a:r>
          </a:p>
          <a:p>
            <a:pPr lvl="1"/>
            <a:r>
              <a:rPr lang="en-US" altLang="en-US"/>
              <a:t>Data type mismatch</a:t>
            </a:r>
          </a:p>
          <a:p>
            <a:pPr lvl="2"/>
            <a:r>
              <a:rPr lang="en-US" altLang="en-US"/>
              <a:t>Data types provided by SQL might not match data types used in different host languages</a:t>
            </a:r>
          </a:p>
          <a:p>
            <a:pPr lvl="2"/>
            <a:endParaRPr lang="en-US" altLang="en-US"/>
          </a:p>
          <a:p>
            <a:pPr lvl="2"/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6BB23-1328-433C-A646-B360691DDC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5941ADEB-E716-49C0-9FD7-90D4C704C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"/>
            <a:ext cx="8026400" cy="863600"/>
          </a:xfrm>
        </p:spPr>
        <p:txBody>
          <a:bodyPr/>
          <a:lstStyle/>
          <a:p>
            <a:br>
              <a:rPr lang="en-US" altLang="en-US"/>
            </a:br>
            <a:r>
              <a:rPr lang="en-US" altLang="en-US"/>
              <a:t>Embedded SQL (2 of 4)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66373D82-BCCA-4A1E-9870-628F8BFF5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Embedded SQL framework defines:</a:t>
            </a:r>
          </a:p>
          <a:p>
            <a:pPr lvl="1"/>
            <a:r>
              <a:rPr lang="en-US" altLang="en-US"/>
              <a:t>Standard syntax to identify embedded SQL code within the host language</a:t>
            </a:r>
          </a:p>
          <a:p>
            <a:pPr lvl="1"/>
            <a:r>
              <a:rPr lang="en-US" altLang="en-US"/>
              <a:t>Standard syntax to identify host variables</a:t>
            </a:r>
          </a:p>
          <a:p>
            <a:pPr lvl="1"/>
            <a:r>
              <a:rPr lang="en-US" altLang="en-US"/>
              <a:t>Communication area used to exchange status and error information between SQL and host language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A3661-F87D-475B-8B64-ED44184DF8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3C93A151-5119-479E-84CF-90E8ECF93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7013"/>
            <a:ext cx="8026400" cy="866775"/>
          </a:xfrm>
        </p:spPr>
        <p:txBody>
          <a:bodyPr/>
          <a:lstStyle/>
          <a:p>
            <a:br>
              <a:rPr lang="en-US" altLang="en-US"/>
            </a:br>
            <a:r>
              <a:rPr lang="en-US" altLang="en-US"/>
              <a:t>Embedded SQL (3 of 4)</a:t>
            </a:r>
            <a:br>
              <a:rPr lang="en-US" altLang="en-US"/>
            </a:br>
            <a:endParaRPr lang="en-US" alt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131E3720-B831-4E4C-8FA0-29BC8E8FF58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063" y="1295400"/>
          <a:ext cx="8415337" cy="4500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874">
                  <a:extLst>
                    <a:ext uri="{9D8B030D-6E8A-4147-A177-3AD203B41FA5}">
                      <a16:colId xmlns:a16="http://schemas.microsoft.com/office/drawing/2014/main" val="10784627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74964340"/>
                    </a:ext>
                  </a:extLst>
                </a:gridCol>
                <a:gridCol w="5199063">
                  <a:extLst>
                    <a:ext uri="{9D8B030D-6E8A-4147-A177-3AD203B41FA5}">
                      <a16:colId xmlns:a16="http://schemas.microsoft.com/office/drawing/2014/main" val="3330622586"/>
                    </a:ext>
                  </a:extLst>
                </a:gridCol>
              </a:tblGrid>
              <a:tr h="731468">
                <a:tc>
                  <a:txBody>
                    <a:bodyPr/>
                    <a:lstStyle/>
                    <a:p>
                      <a:r>
                        <a:rPr lang="nb-NO" sz="1400" b="1" dirty="0">
                          <a:solidFill>
                            <a:schemeClr val="bg1"/>
                          </a:solidFill>
                        </a:rPr>
                        <a:t>Table 8.7</a:t>
                      </a:r>
                    </a:p>
                    <a:p>
                      <a:r>
                        <a:rPr lang="nb-NO" sz="1400" b="1" dirty="0">
                          <a:solidFill>
                            <a:schemeClr val="bg1"/>
                          </a:solidFill>
                        </a:rPr>
                        <a:t>SQL Status and Error Reporting Variables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202100393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Variable Name</a:t>
                      </a:r>
                    </a:p>
                  </a:txBody>
                  <a:tcPr marT="45717" marB="45717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T="45717" marB="45717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Explanation</a:t>
                      </a:r>
                    </a:p>
                  </a:txBody>
                  <a:tcPr marT="45717" marB="45717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496479"/>
                  </a:ext>
                </a:extLst>
              </a:tr>
              <a:tr h="518124">
                <a:tc>
                  <a:txBody>
                    <a:bodyPr/>
                    <a:lstStyle/>
                    <a:p>
                      <a:r>
                        <a:rPr lang="en-US" sz="1400" dirty="0"/>
                        <a:t>SQLCODE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Old-style error reporting supported for backward compatibility only; returns an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integer value (positive or negative)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88193577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Successful completion of command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857004064"/>
                  </a:ext>
                </a:extLst>
              </a:tr>
              <a:tr h="51812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data; the SQL statement did not return any rows and did not select, update,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or delete any rows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355293893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-999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Any negative value indicates that an error occurred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454049324"/>
                  </a:ext>
                </a:extLst>
              </a:tr>
              <a:tr h="518124">
                <a:tc>
                  <a:txBody>
                    <a:bodyPr/>
                    <a:lstStyle/>
                    <a:p>
                      <a:r>
                        <a:rPr lang="en-US" sz="1400" dirty="0"/>
                        <a:t>SQLSTATE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Added by SQL-92 standard to provide predefined error codes;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defined as a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character string (5 characters long)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44736018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00000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Successful completion of command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4028559701"/>
                  </a:ext>
                </a:extLst>
              </a:tr>
              <a:tr h="731468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Multiple values in the format XXYYY where:</a:t>
                      </a:r>
                    </a:p>
                    <a:p>
                      <a:r>
                        <a:rPr lang="en-US" sz="1400" dirty="0"/>
                        <a:t>XX-&gt; represents the class code</a:t>
                      </a:r>
                    </a:p>
                    <a:p>
                      <a:r>
                        <a:rPr lang="en-US" sz="1400" dirty="0"/>
                        <a:t>YYY-&gt; represents the subclass code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28383138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420C1-CE8F-4CB0-8527-B2BA7B4439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16BFFB40-D847-4DB2-98DC-7E38A41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"/>
            <a:ext cx="8026400" cy="863600"/>
          </a:xfrm>
        </p:spPr>
        <p:txBody>
          <a:bodyPr/>
          <a:lstStyle/>
          <a:p>
            <a:br>
              <a:rPr lang="en-US" altLang="en-US"/>
            </a:br>
            <a:r>
              <a:rPr lang="en-US" altLang="en-US"/>
              <a:t>Embedded SQL (4 of 4)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A37EB5E6-38E5-474C-8A13-1D01033BA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2439987"/>
          </a:xfrm>
        </p:spPr>
        <p:txBody>
          <a:bodyPr/>
          <a:lstStyle/>
          <a:p>
            <a:r>
              <a:rPr lang="en-US" altLang="en-US"/>
              <a:t>Static SQL: programmer uses predefined SQL statements and parameters</a:t>
            </a:r>
          </a:p>
          <a:p>
            <a:pPr lvl="1"/>
            <a:r>
              <a:rPr lang="en-US" altLang="en-US"/>
              <a:t>SQL statements will not change while application is running</a:t>
            </a:r>
          </a:p>
          <a:p>
            <a:r>
              <a:rPr lang="en-US" altLang="en-US"/>
              <a:t>Dynamic SQL: SQL statement is generated at run time</a:t>
            </a:r>
          </a:p>
          <a:p>
            <a:pPr lvl="1"/>
            <a:r>
              <a:rPr lang="en-US" altLang="en-US"/>
              <a:t>Attribute list and condition are not known until end user specifies them</a:t>
            </a:r>
          </a:p>
          <a:p>
            <a:pPr lvl="1"/>
            <a:r>
              <a:rPr lang="en-US" altLang="en-US"/>
              <a:t>Slower than static SQL </a:t>
            </a:r>
          </a:p>
          <a:p>
            <a:pPr lvl="1"/>
            <a:r>
              <a:rPr lang="en-US" altLang="en-US"/>
              <a:t>Requires more computer resources</a:t>
            </a:r>
          </a:p>
          <a:p>
            <a:pPr lvl="1"/>
            <a:r>
              <a:rPr lang="en-US" altLang="en-US"/>
              <a:t>Inconsistent levels of support and incompatibilities among DBMS vendors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F5A88-9B7F-44D5-977E-FBF9A732E2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2">
            <a:extLst>
              <a:ext uri="{FF2B5EF4-FFF2-40B4-BE49-F238E27FC236}">
                <a16:creationId xmlns:a16="http://schemas.microsoft.com/office/drawing/2014/main" id="{596F1125-893B-4581-85A2-551F5CABA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Summary (1 of 2)</a:t>
            </a:r>
          </a:p>
        </p:txBody>
      </p:sp>
      <p:sp>
        <p:nvSpPr>
          <p:cNvPr id="44035" name="Content Placeholder 1">
            <a:extLst>
              <a:ext uri="{FF2B5EF4-FFF2-40B4-BE49-F238E27FC236}">
                <a16:creationId xmlns:a16="http://schemas.microsoft.com/office/drawing/2014/main" id="{8E0C4AD1-1565-45AD-82B7-FCE7834E7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3986212"/>
          </a:xfrm>
        </p:spPr>
        <p:txBody>
          <a:bodyPr/>
          <a:lstStyle/>
          <a:p>
            <a:r>
              <a:rPr lang="en-US" altLang="en-US"/>
              <a:t>The ANSI standard data types are supported by all RDBMS vendors in different ways</a:t>
            </a:r>
          </a:p>
          <a:p>
            <a:r>
              <a:rPr lang="en-US" altLang="en-US"/>
              <a:t>The basic data definition commands allow you to create tables and indexes</a:t>
            </a:r>
          </a:p>
          <a:p>
            <a:r>
              <a:rPr lang="en-US" altLang="en-US"/>
              <a:t>Data manipulation commands allow you to add, modify, and delete rows from tables</a:t>
            </a:r>
          </a:p>
          <a:p>
            <a:r>
              <a:rPr lang="en-US" altLang="en-US"/>
              <a:t>Views can be created to expose subsets of data to end users primarily for security and privacy reasons</a:t>
            </a:r>
          </a:p>
          <a:p>
            <a:r>
              <a:rPr lang="en-US" altLang="en-US"/>
              <a:t>In Oracle and SQL Server, sequences may be used to generate values to be assigned to a record</a:t>
            </a:r>
          </a:p>
          <a:p>
            <a:r>
              <a:rPr lang="en-US" altLang="en-US"/>
              <a:t>Procedural Language SQL (PL/SQL) can be used to create triggers, stored procedures, and PL/SQL functions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D8277-46A7-4945-94AC-2B86E14BD1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2">
            <a:extLst>
              <a:ext uri="{FF2B5EF4-FFF2-40B4-BE49-F238E27FC236}">
                <a16:creationId xmlns:a16="http://schemas.microsoft.com/office/drawing/2014/main" id="{301529C1-E6A7-45A3-A3D5-0D798C807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938"/>
            <a:ext cx="8026400" cy="288925"/>
          </a:xfrm>
        </p:spPr>
        <p:txBody>
          <a:bodyPr/>
          <a:lstStyle/>
          <a:p>
            <a:r>
              <a:rPr lang="en-US" altLang="en-US"/>
              <a:t>Summary (2 of 2)</a:t>
            </a:r>
          </a:p>
        </p:txBody>
      </p:sp>
      <p:sp>
        <p:nvSpPr>
          <p:cNvPr id="45059" name="Content Placeholder 1">
            <a:extLst>
              <a:ext uri="{FF2B5EF4-FFF2-40B4-BE49-F238E27FC236}">
                <a16:creationId xmlns:a16="http://schemas.microsoft.com/office/drawing/2014/main" id="{8051B8DD-E602-4B09-95EE-B77F03C59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288"/>
            <a:ext cx="8415338" cy="1770062"/>
          </a:xfrm>
        </p:spPr>
        <p:txBody>
          <a:bodyPr/>
          <a:lstStyle/>
          <a:p>
            <a:r>
              <a:rPr lang="en-US" altLang="en-US"/>
              <a:t>A stored procedure is a named collection of SQL statements</a:t>
            </a:r>
          </a:p>
          <a:p>
            <a:r>
              <a:rPr lang="en-US" altLang="en-US"/>
              <a:t>When SQL statements are designed to return more than one value inside the PL/SQL code, a cursor is needed</a:t>
            </a:r>
          </a:p>
          <a:p>
            <a:r>
              <a:rPr lang="en-US" altLang="en-US"/>
              <a:t>Embedded SQL refers to the use of SQL statements within an application programming language such as Visual Basic .NET, C#, COBOL, or Java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2CC06-D6CF-48AC-8398-DBAE1F71E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d 2016 Med Module  1_PPT_2019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4174</Words>
  <Application>Microsoft Office PowerPoint</Application>
  <PresentationFormat>On-screen Show (4:3)</PresentationFormat>
  <Paragraphs>329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Georgia</vt:lpstr>
      <vt:lpstr>Word 2016 Med Module  1_PPT_2019</vt:lpstr>
      <vt:lpstr>Chapter 8 Advanced SQL</vt:lpstr>
      <vt:lpstr>Learning Objectives</vt:lpstr>
      <vt:lpstr>Data Definition Commands (1 of 3)</vt:lpstr>
      <vt:lpstr>Data Definition Commands (2 of 3)</vt:lpstr>
      <vt:lpstr>Data Definition Commands (3 of 3)</vt:lpstr>
      <vt:lpstr>Creating Table Structures (1 of 2)</vt:lpstr>
      <vt:lpstr>Creating Table Structures (2 of 2)</vt:lpstr>
      <vt:lpstr>Altering Table Structures (1 of 3)</vt:lpstr>
      <vt:lpstr>Altering Table Structures (2 of 3)</vt:lpstr>
      <vt:lpstr>Altering Table Structures (3 of 3)</vt:lpstr>
      <vt:lpstr>Data Manipulation Commands (1 of 2)</vt:lpstr>
      <vt:lpstr>Data Manipulation Commands (2 of 2)</vt:lpstr>
      <vt:lpstr>Virtual Tables: Creating a View</vt:lpstr>
      <vt:lpstr>Updatable Views</vt:lpstr>
      <vt:lpstr>Sequences (1 of 2)</vt:lpstr>
      <vt:lpstr>Sequences (2 of 2)</vt:lpstr>
      <vt:lpstr>Procedural SQL (1 of 3)</vt:lpstr>
      <vt:lpstr>Procedural SQL (2 of 3)</vt:lpstr>
      <vt:lpstr>Procedural SQL (3 of 3)</vt:lpstr>
      <vt:lpstr>Triggers (1 of 2)</vt:lpstr>
      <vt:lpstr>Triggers (2 of 2)</vt:lpstr>
      <vt:lpstr>Stored Procedures</vt:lpstr>
      <vt:lpstr>PL/SQL Processing with Cursors (1 of 3)</vt:lpstr>
      <vt:lpstr>PL/SQL Processing with Cursors (2 of 3)</vt:lpstr>
      <vt:lpstr>PL/SQL Processing with Cursors (3 of 3)</vt:lpstr>
      <vt:lpstr>PL/SQL Stored Functions</vt:lpstr>
      <vt:lpstr> Embedded SQL (1 of 4) </vt:lpstr>
      <vt:lpstr> Embedded SQL (2 of 4) </vt:lpstr>
      <vt:lpstr> Embedded SQL (3 of 4) </vt:lpstr>
      <vt:lpstr> Embedded SQL (4 of 4) </vt:lpstr>
      <vt:lpstr>Summary (1 of 2)</vt:lpstr>
      <vt:lpstr>Summary (2 of 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2017-09-25T21:10:43Z</dcterms:created>
  <dcterms:modified xsi:type="dcterms:W3CDTF">2024-10-14T14:34:20Z</dcterms:modified>
</cp:coreProperties>
</file>