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</p:sldMasterIdLst>
  <p:notesMasterIdLst>
    <p:notesMasterId r:id="rId48"/>
  </p:notesMasterIdLst>
  <p:handoutMasterIdLst>
    <p:handoutMasterId r:id="rId49"/>
  </p:handoutMasterIdLst>
  <p:sldIdLst>
    <p:sldId id="256" r:id="rId2"/>
    <p:sldId id="257" r:id="rId3"/>
    <p:sldId id="316" r:id="rId4"/>
    <p:sldId id="260" r:id="rId5"/>
    <p:sldId id="264" r:id="rId6"/>
    <p:sldId id="317" r:id="rId7"/>
    <p:sldId id="318" r:id="rId8"/>
    <p:sldId id="320" r:id="rId9"/>
    <p:sldId id="319" r:id="rId10"/>
    <p:sldId id="271" r:id="rId11"/>
    <p:sldId id="321" r:id="rId12"/>
    <p:sldId id="322" r:id="rId13"/>
    <p:sldId id="323" r:id="rId14"/>
    <p:sldId id="324" r:id="rId15"/>
    <p:sldId id="325" r:id="rId16"/>
    <p:sldId id="326" r:id="rId17"/>
    <p:sldId id="276" r:id="rId18"/>
    <p:sldId id="327" r:id="rId19"/>
    <p:sldId id="328" r:id="rId20"/>
    <p:sldId id="329" r:id="rId21"/>
    <p:sldId id="283" r:id="rId22"/>
    <p:sldId id="284" r:id="rId23"/>
    <p:sldId id="285" r:id="rId24"/>
    <p:sldId id="312" r:id="rId25"/>
    <p:sldId id="289" r:id="rId26"/>
    <p:sldId id="330" r:id="rId27"/>
    <p:sldId id="291" r:id="rId28"/>
    <p:sldId id="298" r:id="rId29"/>
    <p:sldId id="299" r:id="rId30"/>
    <p:sldId id="294" r:id="rId31"/>
    <p:sldId id="301" r:id="rId32"/>
    <p:sldId id="331" r:id="rId33"/>
    <p:sldId id="332" r:id="rId34"/>
    <p:sldId id="305" r:id="rId35"/>
    <p:sldId id="306" r:id="rId36"/>
    <p:sldId id="309" r:id="rId37"/>
    <p:sldId id="333" r:id="rId38"/>
    <p:sldId id="334" r:id="rId39"/>
    <p:sldId id="335" r:id="rId40"/>
    <p:sldId id="336" r:id="rId41"/>
    <p:sldId id="310" r:id="rId42"/>
    <p:sldId id="308" r:id="rId43"/>
    <p:sldId id="337" r:id="rId44"/>
    <p:sldId id="340" r:id="rId45"/>
    <p:sldId id="338" r:id="rId46"/>
    <p:sldId id="339" r:id="rId4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0066FF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24" autoAdjust="0"/>
    <p:restoredTop sz="86471" autoAdjust="0"/>
  </p:normalViewPr>
  <p:slideViewPr>
    <p:cSldViewPr>
      <p:cViewPr varScale="1">
        <p:scale>
          <a:sx n="63" d="100"/>
          <a:sy n="63" d="100"/>
        </p:scale>
        <p:origin x="1027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CE6038-F1F3-47E8-B949-BAB31987FC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A27976-5A02-454A-90C6-85418B65E4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F5FAA88-43F6-4087-8ED0-DD92571E64FD}" type="datetimeFigureOut">
              <a:rPr lang="en-US"/>
              <a:pPr>
                <a:defRPr/>
              </a:pPr>
              <a:t>10/14/2024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4460CE-0C04-43BD-9662-8DF2077E19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D8DF55-AB74-427A-89C4-95307D2D96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082397A5-A13B-45A4-9E9D-A6CE3DF464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4CF08D-461F-41D0-87F1-962252E162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alibri" panose="020F0502020204030204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27E30C-D869-4100-B329-F78905DE93B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Calibri" panose="020F0502020204030204" pitchFamily="34" charset="0"/>
                <a:cs typeface="Arial" charset="0"/>
              </a:defRPr>
            </a:lvl1pPr>
          </a:lstStyle>
          <a:p>
            <a:pPr>
              <a:defRPr/>
            </a:pPr>
            <a:fld id="{3EAE9CA1-FD13-40AE-9E18-9695BEAE0DBE}" type="datetimeFigureOut">
              <a:rPr lang="en-US"/>
              <a:pPr>
                <a:defRPr/>
              </a:pPr>
              <a:t>10/14/2024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EE4904A-A5DE-42E3-B352-111C6E1F1E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DCBD2EC-F280-4F49-BAA4-D7BC1E972C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1F712-13A8-4BE0-9E5E-408F3598DE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alibri" panose="020F0502020204030204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764EC-25EC-4717-8F3A-6087E062BA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2EAAE5EA-A3FF-4710-8929-4A49794A9E8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81E52FBC-A6E9-4EAD-816C-93690237D2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F5668B96-4178-4F4A-B243-AD6B74941F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Title_Slide.png">
            <a:extLst>
              <a:ext uri="{FF2B5EF4-FFF2-40B4-BE49-F238E27FC236}">
                <a16:creationId xmlns:a16="http://schemas.microsoft.com/office/drawing/2014/main" id="{D196CBE3-2E7B-4854-9F42-E6063A2E94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3" y="254000"/>
            <a:ext cx="8713787" cy="652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EBD286D-4EB7-4DE8-9904-C744449DC084}"/>
              </a:ext>
            </a:extLst>
          </p:cNvPr>
          <p:cNvSpPr/>
          <p:nvPr/>
        </p:nvSpPr>
        <p:spPr>
          <a:xfrm>
            <a:off x="3482975" y="223838"/>
            <a:ext cx="2125663" cy="985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pic>
        <p:nvPicPr>
          <p:cNvPr id="6" name="Picture 11" descr="Rules_Single_A.png">
            <a:extLst>
              <a:ext uri="{FF2B5EF4-FFF2-40B4-BE49-F238E27FC236}">
                <a16:creationId xmlns:a16="http://schemas.microsoft.com/office/drawing/2014/main" id="{713AB5F4-B2FE-4D2E-A2DF-E4CFD261D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>
            <a:fillRect/>
          </a:stretch>
        </p:blipFill>
        <p:spPr bwMode="auto">
          <a:xfrm>
            <a:off x="1627188" y="481013"/>
            <a:ext cx="10034587" cy="10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61E1A794-8A71-47E8-8BED-2AF1C8FF6D90}"/>
              </a:ext>
            </a:extLst>
          </p:cNvPr>
          <p:cNvSpPr/>
          <p:nvPr/>
        </p:nvSpPr>
        <p:spPr>
          <a:xfrm>
            <a:off x="6811963" y="4884738"/>
            <a:ext cx="2081212" cy="1927225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pic>
        <p:nvPicPr>
          <p:cNvPr id="8" name="Picture 13" descr="Audio.png">
            <a:extLst>
              <a:ext uri="{FF2B5EF4-FFF2-40B4-BE49-F238E27FC236}">
                <a16:creationId xmlns:a16="http://schemas.microsoft.com/office/drawing/2014/main" id="{31FB49A5-65C0-4831-A868-EB4BF040C5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938" y="5389563"/>
            <a:ext cx="985837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4">
            <a:extLst>
              <a:ext uri="{FF2B5EF4-FFF2-40B4-BE49-F238E27FC236}">
                <a16:creationId xmlns:a16="http://schemas.microsoft.com/office/drawing/2014/main" id="{245742BB-4812-471C-A4B9-1380C3610C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7" r="23795"/>
          <a:stretch>
            <a:fillRect/>
          </a:stretch>
        </p:blipFill>
        <p:spPr bwMode="auto">
          <a:xfrm>
            <a:off x="8674100" y="5121275"/>
            <a:ext cx="276225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5" descr="Swirl_3.png">
            <a:extLst>
              <a:ext uri="{FF2B5EF4-FFF2-40B4-BE49-F238E27FC236}">
                <a16:creationId xmlns:a16="http://schemas.microsoft.com/office/drawing/2014/main" id="{F040F5A0-F338-4EDD-A37F-120F81836A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688654">
            <a:off x="7440613" y="6392863"/>
            <a:ext cx="38576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6" descr="Swirl_3.png">
            <a:extLst>
              <a:ext uri="{FF2B5EF4-FFF2-40B4-BE49-F238E27FC236}">
                <a16:creationId xmlns:a16="http://schemas.microsoft.com/office/drawing/2014/main" id="{1DEB82C9-CAA4-4805-8ADA-9B99E59FAE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073124">
            <a:off x="7908926" y="5449887"/>
            <a:ext cx="5905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7">
            <a:extLst>
              <a:ext uri="{FF2B5EF4-FFF2-40B4-BE49-F238E27FC236}">
                <a16:creationId xmlns:a16="http://schemas.microsoft.com/office/drawing/2014/main" id="{999C589B-A666-4655-8466-A4C4069E3B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80" b="12460"/>
          <a:stretch>
            <a:fillRect/>
          </a:stretch>
        </p:blipFill>
        <p:spPr bwMode="auto">
          <a:xfrm>
            <a:off x="7939088" y="5832475"/>
            <a:ext cx="673100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8">
            <a:extLst>
              <a:ext uri="{FF2B5EF4-FFF2-40B4-BE49-F238E27FC236}">
                <a16:creationId xmlns:a16="http://schemas.microsoft.com/office/drawing/2014/main" id="{6054D381-FC0D-4520-9EFB-129A5C71260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15088"/>
            <a:ext cx="1150938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2723470"/>
            <a:ext cx="7747000" cy="366254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352800"/>
            <a:ext cx="7747000" cy="233910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F5463A49-E245-4819-B057-D3C07D6034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04913" y="6364288"/>
            <a:ext cx="6200775" cy="36512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353038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Rules_Single_A.png">
            <a:extLst>
              <a:ext uri="{FF2B5EF4-FFF2-40B4-BE49-F238E27FC236}">
                <a16:creationId xmlns:a16="http://schemas.microsoft.com/office/drawing/2014/main" id="{B5D58609-07E1-4A1A-AD80-875959422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>
            <a:fillRect/>
          </a:stretch>
        </p:blipFill>
        <p:spPr bwMode="auto">
          <a:xfrm>
            <a:off x="1597025" y="6488113"/>
            <a:ext cx="11423650" cy="9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0" descr="Audio.png">
            <a:extLst>
              <a:ext uri="{FF2B5EF4-FFF2-40B4-BE49-F238E27FC236}">
                <a16:creationId xmlns:a16="http://schemas.microsoft.com/office/drawing/2014/main" id="{ACD46A75-6077-4C96-982D-8C4EDCD75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8" y="361950"/>
            <a:ext cx="1839912" cy="194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Swirl_3.png">
            <a:extLst>
              <a:ext uri="{FF2B5EF4-FFF2-40B4-BE49-F238E27FC236}">
                <a16:creationId xmlns:a16="http://schemas.microsoft.com/office/drawing/2014/main" id="{A6D3FE46-35B3-43E3-840A-DA46D2DEB4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569126">
            <a:off x="1431925" y="1916113"/>
            <a:ext cx="908050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2" descr="Swirl_2.png">
            <a:extLst>
              <a:ext uri="{FF2B5EF4-FFF2-40B4-BE49-F238E27FC236}">
                <a16:creationId xmlns:a16="http://schemas.microsoft.com/office/drawing/2014/main" id="{5ADDBFBD-EB18-4D50-A69C-7C2EBA8F62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873741" flipH="1">
            <a:off x="218281" y="3552032"/>
            <a:ext cx="7953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3">
            <a:extLst>
              <a:ext uri="{FF2B5EF4-FFF2-40B4-BE49-F238E27FC236}">
                <a16:creationId xmlns:a16="http://schemas.microsoft.com/office/drawing/2014/main" id="{70EA25C0-6CCB-4252-8757-BD1241BB49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80" b="12460"/>
          <a:stretch>
            <a:fillRect/>
          </a:stretch>
        </p:blipFill>
        <p:spPr bwMode="auto">
          <a:xfrm>
            <a:off x="879475" y="2605088"/>
            <a:ext cx="1101725" cy="122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4">
            <a:extLst>
              <a:ext uri="{FF2B5EF4-FFF2-40B4-BE49-F238E27FC236}">
                <a16:creationId xmlns:a16="http://schemas.microsoft.com/office/drawing/2014/main" id="{7AF06438-4F0F-45BD-9F16-F66E5D507C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8" y="4535488"/>
            <a:ext cx="596900" cy="79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5">
            <a:extLst>
              <a:ext uri="{FF2B5EF4-FFF2-40B4-BE49-F238E27FC236}">
                <a16:creationId xmlns:a16="http://schemas.microsoft.com/office/drawing/2014/main" id="{77C990B0-4B65-42FD-8519-F9E95A7F00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7" r="23795"/>
          <a:stretch>
            <a:fillRect/>
          </a:stretch>
        </p:blipFill>
        <p:spPr bwMode="auto">
          <a:xfrm>
            <a:off x="738188" y="4805363"/>
            <a:ext cx="252412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6">
            <a:extLst>
              <a:ext uri="{FF2B5EF4-FFF2-40B4-BE49-F238E27FC236}">
                <a16:creationId xmlns:a16="http://schemas.microsoft.com/office/drawing/2014/main" id="{DBE17A74-9AD8-4EF4-9149-F3DD8CD0D4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6362700"/>
            <a:ext cx="14001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2233574"/>
            <a:ext cx="6172200" cy="366254"/>
          </a:xfrm>
        </p:spPr>
        <p:txBody>
          <a:bodyPr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942672"/>
            <a:ext cx="6172200" cy="2631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00FB499E-2C66-43F8-9E40-1B7D5B6AB0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597025" y="6578600"/>
            <a:ext cx="6781800" cy="24447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05531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Rules_Single_B.png">
            <a:extLst>
              <a:ext uri="{FF2B5EF4-FFF2-40B4-BE49-F238E27FC236}">
                <a16:creationId xmlns:a16="http://schemas.microsoft.com/office/drawing/2014/main" id="{6E2BB901-ABBA-42A7-9AA3-AC53AAF9F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2" r="10007"/>
          <a:stretch>
            <a:fillRect/>
          </a:stretch>
        </p:blipFill>
        <p:spPr bwMode="auto">
          <a:xfrm>
            <a:off x="215900" y="947738"/>
            <a:ext cx="8586788" cy="4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0">
            <a:extLst>
              <a:ext uri="{FF2B5EF4-FFF2-40B4-BE49-F238E27FC236}">
                <a16:creationId xmlns:a16="http://schemas.microsoft.com/office/drawing/2014/main" id="{F12C74EC-B0AA-40F6-88F8-AE0D620C24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80" b="12460"/>
          <a:stretch>
            <a:fillRect/>
          </a:stretch>
        </p:blipFill>
        <p:spPr bwMode="auto">
          <a:xfrm>
            <a:off x="79375" y="222250"/>
            <a:ext cx="628650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1" descr="Rules_Single_A.png">
            <a:extLst>
              <a:ext uri="{FF2B5EF4-FFF2-40B4-BE49-F238E27FC236}">
                <a16:creationId xmlns:a16="http://schemas.microsoft.com/office/drawing/2014/main" id="{61EFBF18-5651-4E3B-8A27-DE387B6A88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>
            <a:fillRect/>
          </a:stretch>
        </p:blipFill>
        <p:spPr bwMode="auto">
          <a:xfrm>
            <a:off x="1597025" y="6488113"/>
            <a:ext cx="11423650" cy="9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>
            <a:extLst>
              <a:ext uri="{FF2B5EF4-FFF2-40B4-BE49-F238E27FC236}">
                <a16:creationId xmlns:a16="http://schemas.microsoft.com/office/drawing/2014/main" id="{C2AA52B1-AF37-40CB-8C82-D3D8625AED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" y="6324600"/>
            <a:ext cx="1438275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516444"/>
            <a:ext cx="8026400" cy="28777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B5BE0B2E-ED1F-4D7E-AE92-4EB5C62DF7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597025" y="6578600"/>
            <a:ext cx="6781800" cy="24447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046713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9" descr="Rules_Single_B.png">
            <a:extLst>
              <a:ext uri="{FF2B5EF4-FFF2-40B4-BE49-F238E27FC236}">
                <a16:creationId xmlns:a16="http://schemas.microsoft.com/office/drawing/2014/main" id="{078DE9A7-F796-4061-A07D-7C57E688D4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2" r="10007"/>
          <a:stretch>
            <a:fillRect/>
          </a:stretch>
        </p:blipFill>
        <p:spPr bwMode="auto">
          <a:xfrm>
            <a:off x="215900" y="947738"/>
            <a:ext cx="8586788" cy="4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26FFF496-EC6F-4A2B-952D-95D43FF772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80" b="12460"/>
          <a:stretch>
            <a:fillRect/>
          </a:stretch>
        </p:blipFill>
        <p:spPr bwMode="auto">
          <a:xfrm>
            <a:off x="79375" y="222250"/>
            <a:ext cx="628650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1" descr="Rules_Single_A.png">
            <a:extLst>
              <a:ext uri="{FF2B5EF4-FFF2-40B4-BE49-F238E27FC236}">
                <a16:creationId xmlns:a16="http://schemas.microsoft.com/office/drawing/2014/main" id="{1CE05471-984B-4E14-A2B1-BA295442B4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>
            <a:fillRect/>
          </a:stretch>
        </p:blipFill>
        <p:spPr bwMode="auto">
          <a:xfrm>
            <a:off x="1597025" y="6488113"/>
            <a:ext cx="11423650" cy="9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64BFF50E-6BFD-465B-BFC2-7C862E8E08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" y="6305550"/>
            <a:ext cx="14033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10493"/>
            <a:ext cx="8026400" cy="2877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01C1AD6-9B45-44C5-8ABF-C82619EE27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597025" y="6578600"/>
            <a:ext cx="6781800" cy="24447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858694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257AB29-D15E-4B00-94A9-AC1428E765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84707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2AD3BEB-B54F-42EF-B184-17D97445B127}"/>
              </a:ext>
            </a:extLst>
          </p:cNvPr>
          <p:cNvSpPr/>
          <p:nvPr/>
        </p:nvSpPr>
        <p:spPr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 useBgFill="1">
        <p:nvSpPr>
          <p:cNvPr id="4" name="Rounded Rectangle 10">
            <a:extLst>
              <a:ext uri="{FF2B5EF4-FFF2-40B4-BE49-F238E27FC236}">
                <a16:creationId xmlns:a16="http://schemas.microsoft.com/office/drawing/2014/main" id="{50A22B29-8374-4B47-8003-6C2E28CE450E}"/>
              </a:ext>
            </a:extLst>
          </p:cNvPr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 useBgFill="1">
        <p:nvSpPr>
          <p:cNvPr id="5" name="Rounded Rectangle 11">
            <a:extLst>
              <a:ext uri="{FF2B5EF4-FFF2-40B4-BE49-F238E27FC236}">
                <a16:creationId xmlns:a16="http://schemas.microsoft.com/office/drawing/2014/main" id="{684A1718-9286-4057-ACC3-CC5EA3FD12B4}"/>
              </a:ext>
            </a:extLst>
          </p:cNvPr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43ED44-365A-4270-8848-7EBB483F2AD4}"/>
              </a:ext>
            </a:extLst>
          </p:cNvPr>
          <p:cNvSpPr/>
          <p:nvPr/>
        </p:nvSpPr>
        <p:spPr>
          <a:xfrm>
            <a:off x="0" y="3962400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4D3F57-1E61-41E9-9202-49628DC8EEA9}"/>
              </a:ext>
            </a:extLst>
          </p:cNvPr>
          <p:cNvSpPr/>
          <p:nvPr/>
        </p:nvSpPr>
        <p:spPr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9BB4E2-5E31-403F-8C26-43069B7524F4}"/>
              </a:ext>
            </a:extLst>
          </p:cNvPr>
          <p:cNvSpPr/>
          <p:nvPr userDrawn="1"/>
        </p:nvSpPr>
        <p:spPr>
          <a:xfrm>
            <a:off x="0" y="0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3C3C360E-13FF-4410-B326-4FC909A6672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63513"/>
            <a:ext cx="2667000" cy="3687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724400"/>
            <a:ext cx="6324600" cy="129540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54038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79787"/>
            <a:ext cx="8382000" cy="418576"/>
          </a:xfrm>
        </p:spPr>
        <p:txBody>
          <a:bodyPr/>
          <a:lstStyle>
            <a:lvl1pPr>
              <a:defRPr sz="3200" b="0" i="0" cap="none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1828800"/>
            <a:ext cx="4041648" cy="1526508"/>
          </a:xfrm>
        </p:spPr>
        <p:txBody>
          <a:bodyPr/>
          <a:lstStyle>
            <a:lvl1pPr>
              <a:defRPr sz="2400"/>
            </a:lvl1pPr>
            <a:lvl2pPr>
              <a:defRPr sz="1867"/>
            </a:lvl2pPr>
            <a:lvl3pPr>
              <a:defRPr sz="1680"/>
            </a:lvl3pPr>
            <a:lvl4pPr>
              <a:defRPr sz="1493"/>
            </a:lvl4pPr>
            <a:lvl5pPr>
              <a:defRPr sz="149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12" y="1828800"/>
            <a:ext cx="4041775" cy="1526508"/>
          </a:xfrm>
        </p:spPr>
        <p:txBody>
          <a:bodyPr/>
          <a:lstStyle>
            <a:lvl1pPr>
              <a:defRPr sz="2400"/>
            </a:lvl1pPr>
            <a:lvl2pPr>
              <a:defRPr sz="1867"/>
            </a:lvl2pPr>
            <a:lvl3pPr>
              <a:defRPr sz="1680"/>
            </a:lvl3pPr>
            <a:lvl4pPr>
              <a:defRPr sz="1493"/>
            </a:lvl4pPr>
            <a:lvl5pPr>
              <a:defRPr sz="149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2417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FD0D947-7095-42DC-B2CD-956C3D87C176}"/>
              </a:ext>
            </a:extLst>
          </p:cNvPr>
          <p:cNvSpPr/>
          <p:nvPr/>
        </p:nvSpPr>
        <p:spPr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 useBgFill="1">
        <p:nvSpPr>
          <p:cNvPr id="4" name="Rounded Rectangle 10">
            <a:extLst>
              <a:ext uri="{FF2B5EF4-FFF2-40B4-BE49-F238E27FC236}">
                <a16:creationId xmlns:a16="http://schemas.microsoft.com/office/drawing/2014/main" id="{4524EBDB-0CD7-4572-B7F8-F05FBFE5F4C6}"/>
              </a:ext>
            </a:extLst>
          </p:cNvPr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 useBgFill="1">
        <p:nvSpPr>
          <p:cNvPr id="5" name="Rounded Rectangle 11">
            <a:extLst>
              <a:ext uri="{FF2B5EF4-FFF2-40B4-BE49-F238E27FC236}">
                <a16:creationId xmlns:a16="http://schemas.microsoft.com/office/drawing/2014/main" id="{E812D366-BB0C-4AC5-A42F-0A7F45E82A3F}"/>
              </a:ext>
            </a:extLst>
          </p:cNvPr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4D09BC-3197-4DBF-ABC6-C868C6AEA5F5}"/>
              </a:ext>
            </a:extLst>
          </p:cNvPr>
          <p:cNvSpPr/>
          <p:nvPr/>
        </p:nvSpPr>
        <p:spPr>
          <a:xfrm>
            <a:off x="0" y="3962400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0F1A32-B0A4-49D3-924E-1E26E1B829A7}"/>
              </a:ext>
            </a:extLst>
          </p:cNvPr>
          <p:cNvSpPr/>
          <p:nvPr/>
        </p:nvSpPr>
        <p:spPr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C4E4C7-62AC-4445-8D57-22EE64BE7E6C}"/>
              </a:ext>
            </a:extLst>
          </p:cNvPr>
          <p:cNvSpPr/>
          <p:nvPr userDrawn="1"/>
        </p:nvSpPr>
        <p:spPr>
          <a:xfrm>
            <a:off x="0" y="0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C43CF969-FBC7-4E0D-85C8-DAC212F2019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63513"/>
            <a:ext cx="2667000" cy="3687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724400"/>
            <a:ext cx="6324600" cy="129540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95577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EED63B-4E0D-4637-AE48-17100FB6E72D}"/>
              </a:ext>
            </a:extLst>
          </p:cNvPr>
          <p:cNvSpPr/>
          <p:nvPr/>
        </p:nvSpPr>
        <p:spPr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 useBgFill="1">
        <p:nvSpPr>
          <p:cNvPr id="4" name="Rounded Rectangle 10">
            <a:extLst>
              <a:ext uri="{FF2B5EF4-FFF2-40B4-BE49-F238E27FC236}">
                <a16:creationId xmlns:a16="http://schemas.microsoft.com/office/drawing/2014/main" id="{2DB864B8-316D-497C-92F8-EEB5A8C38349}"/>
              </a:ext>
            </a:extLst>
          </p:cNvPr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 useBgFill="1">
        <p:nvSpPr>
          <p:cNvPr id="5" name="Rounded Rectangle 11">
            <a:extLst>
              <a:ext uri="{FF2B5EF4-FFF2-40B4-BE49-F238E27FC236}">
                <a16:creationId xmlns:a16="http://schemas.microsoft.com/office/drawing/2014/main" id="{9A5AC6A9-1B7B-498C-89AC-7F016D784051}"/>
              </a:ext>
            </a:extLst>
          </p:cNvPr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92D52E-5C18-439C-A036-F4D91B8A02C0}"/>
              </a:ext>
            </a:extLst>
          </p:cNvPr>
          <p:cNvSpPr/>
          <p:nvPr/>
        </p:nvSpPr>
        <p:spPr>
          <a:xfrm>
            <a:off x="0" y="3962400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C76A72-35D6-4DBE-9732-35A7468D13F4}"/>
              </a:ext>
            </a:extLst>
          </p:cNvPr>
          <p:cNvSpPr/>
          <p:nvPr/>
        </p:nvSpPr>
        <p:spPr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563643-8731-4FB0-A9BA-4AC67BFC70EC}"/>
              </a:ext>
            </a:extLst>
          </p:cNvPr>
          <p:cNvSpPr/>
          <p:nvPr userDrawn="1"/>
        </p:nvSpPr>
        <p:spPr>
          <a:xfrm>
            <a:off x="0" y="0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4AEB4187-1F10-48FC-8CB8-086150351F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63513"/>
            <a:ext cx="2667000" cy="3687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724400"/>
            <a:ext cx="6324600" cy="129540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09282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>
            <a:extLst>
              <a:ext uri="{FF2B5EF4-FFF2-40B4-BE49-F238E27FC236}">
                <a16:creationId xmlns:a16="http://schemas.microsoft.com/office/drawing/2014/main" id="{1BF32823-A4D5-4DDC-8841-E47399DE9F4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65125" y="1538288"/>
            <a:ext cx="8415338" cy="141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FDA35B4-6310-4FB4-B106-D5B0E36AA430}"/>
              </a:ext>
            </a:extLst>
          </p:cNvPr>
          <p:cNvSpPr txBox="1">
            <a:spLocks/>
          </p:cNvSpPr>
          <p:nvPr/>
        </p:nvSpPr>
        <p:spPr>
          <a:xfrm>
            <a:off x="8382000" y="6513513"/>
            <a:ext cx="306388" cy="215900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F5B6F42E-D653-4961-91DF-F11DABC02FE3}" type="slidenum">
              <a:rPr lang="en-US" altLang="en-US" sz="800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/>
              <a:t>‹#›</a:t>
            </a:fld>
            <a:endParaRPr lang="en-US" altLang="en-US" sz="8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028" name="Title Placeholder 1">
            <a:extLst>
              <a:ext uri="{FF2B5EF4-FFF2-40B4-BE49-F238E27FC236}">
                <a16:creationId xmlns:a16="http://schemas.microsoft.com/office/drawing/2014/main" id="{4A8CE183-BDA0-48EA-A330-9B38F341271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5125" y="485775"/>
            <a:ext cx="8415338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58D165-7671-4448-8CE3-FD41E41EE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125" y="6610350"/>
            <a:ext cx="8013700" cy="2127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6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26E539-AB7E-4C15-B3AE-E2772F0FDFF3}"/>
              </a:ext>
            </a:extLst>
          </p:cNvPr>
          <p:cNvSpPr/>
          <p:nvPr userDrawn="1"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0070C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EAE3DC-3355-4DDA-8EEB-C487DF6BD7AD}"/>
              </a:ext>
            </a:extLst>
          </p:cNvPr>
          <p:cNvSpPr/>
          <p:nvPr userDrawn="1"/>
        </p:nvSpPr>
        <p:spPr>
          <a:xfrm>
            <a:off x="0" y="7938"/>
            <a:ext cx="9144000" cy="220662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9AD12-2D24-454C-BFCB-12DE8178BF9C}"/>
              </a:ext>
            </a:extLst>
          </p:cNvPr>
          <p:cNvSpPr/>
          <p:nvPr userDrawn="1"/>
        </p:nvSpPr>
        <p:spPr>
          <a:xfrm>
            <a:off x="0" y="381000"/>
            <a:ext cx="9144000" cy="58738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3" r:id="rId5"/>
    <p:sldLayoutId id="2147483818" r:id="rId6"/>
    <p:sldLayoutId id="2147483819" r:id="rId7"/>
    <p:sldLayoutId id="2147483820" r:id="rId8"/>
    <p:sldLayoutId id="2147483821" r:id="rId9"/>
  </p:sldLayoutIdLst>
  <p:hf sldNum="0" hd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200" kern="1200">
          <a:solidFill>
            <a:schemeClr val="accent2"/>
          </a:solidFill>
          <a:latin typeface="Calibri" panose="020F0502020204030204" pitchFamily="34" charset="0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accent2"/>
          </a:solidFill>
          <a:latin typeface="Calibri" panose="020F0502020204030204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accent2"/>
          </a:solidFill>
          <a:latin typeface="Calibri" panose="020F0502020204030204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accent2"/>
          </a:solidFill>
          <a:latin typeface="Calibri" panose="020F0502020204030204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accent2"/>
          </a:solidFill>
          <a:latin typeface="Calibri" panose="020F0502020204030204" pitchFamily="34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accent2"/>
          </a:solidFill>
          <a:latin typeface="Calibri" panose="020F0502020204030204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accent2"/>
          </a:solidFill>
          <a:latin typeface="Calibri" panose="020F0502020204030204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accent2"/>
          </a:solidFill>
          <a:latin typeface="Calibri" panose="020F0502020204030204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accent2"/>
          </a:solidFill>
          <a:latin typeface="Calibri" panose="020F0502020204030204" pitchFamily="34" charset="0"/>
        </a:defRPr>
      </a:lvl9pPr>
    </p:titleStyle>
    <p:bodyStyle>
      <a:lvl1pPr marL="171450" indent="-171450" algn="l" rtl="0" eaLnBrk="0" fontAlgn="base" hangingPunct="0">
        <a:lnSpc>
          <a:spcPct val="95000"/>
        </a:lnSpc>
        <a:spcBef>
          <a:spcPts val="12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400050" indent="-171450" algn="l" rtl="0" eaLnBrk="0" fontAlgn="base" hangingPunct="0">
        <a:lnSpc>
          <a:spcPct val="95000"/>
        </a:lnSpc>
        <a:spcBef>
          <a:spcPts val="6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71500" indent="-114300" algn="l" rtl="0" eaLnBrk="0" fontAlgn="base" hangingPunct="0">
        <a:lnSpc>
          <a:spcPct val="95000"/>
        </a:lnSpc>
        <a:spcBef>
          <a:spcPct val="20000"/>
        </a:spcBef>
        <a:spcAft>
          <a:spcPct val="0"/>
        </a:spcAft>
        <a:buClr>
          <a:srgbClr val="404040"/>
        </a:buClr>
        <a:buFont typeface="Arial" panose="020B0604020202020204" pitchFamily="34" charset="0"/>
        <a:buChar char="-"/>
        <a:defRPr sz="1600" kern="1200">
          <a:solidFill>
            <a:srgbClr val="404040"/>
          </a:solidFill>
          <a:latin typeface="+mn-lt"/>
          <a:ea typeface="+mn-ea"/>
          <a:cs typeface="+mn-cs"/>
        </a:defRPr>
      </a:lvl3pPr>
      <a:lvl4pPr marL="742950" indent="-114300" algn="l" rtl="0" eaLnBrk="0" fontAlgn="base" hangingPunct="0">
        <a:lnSpc>
          <a:spcPct val="95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14400" indent="-114300" algn="l" rtl="0" eaLnBrk="0" fontAlgn="base" hangingPunct="0">
        <a:lnSpc>
          <a:spcPct val="95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-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ubtitle 2">
            <a:extLst>
              <a:ext uri="{FF2B5EF4-FFF2-40B4-BE49-F238E27FC236}">
                <a16:creationId xmlns:a16="http://schemas.microsoft.com/office/drawing/2014/main" id="{96E84639-DC39-4ABC-98F5-ADF2B890F436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1584325" y="4724400"/>
            <a:ext cx="6324600" cy="1295400"/>
          </a:xfrm>
          <a:prstGeom prst="rect">
            <a:avLst/>
          </a:prstGeom>
          <a:noFill/>
          <a:ln>
            <a:noFill/>
            <a:prstDash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59739" marR="0" lvl="0" indent="0" algn="ctr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Chapter 13</a:t>
            </a:r>
          </a:p>
          <a:p>
            <a:pPr marL="59739" marR="0" lvl="0" indent="0" algn="ctr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Business Intelligence and Data Warehouses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1AAF63D7-522C-408E-84F5-41352A493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Learning Objectives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B9A47DF4-AE62-4A0C-B983-FD69BA69B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3986212"/>
          </a:xfrm>
        </p:spPr>
        <p:txBody>
          <a:bodyPr/>
          <a:lstStyle/>
          <a:p>
            <a:pPr eaLnBrk="1" hangingPunct="1"/>
            <a:r>
              <a:rPr lang="en-US" altLang="en-US"/>
              <a:t>After completing this chapter, you will be able to:</a:t>
            </a:r>
          </a:p>
          <a:p>
            <a:pPr lvl="1" eaLnBrk="1" hangingPunct="1"/>
            <a:r>
              <a:rPr lang="en-US" altLang="en-US"/>
              <a:t>Describe the role of business intelligence in providing comprehensive business decision support</a:t>
            </a:r>
          </a:p>
          <a:p>
            <a:pPr lvl="1" eaLnBrk="1" hangingPunct="1"/>
            <a:r>
              <a:rPr lang="en-US" altLang="en-US"/>
              <a:t>Describe the architecture, reporting styles, evolution, and benefits of business intelligence</a:t>
            </a:r>
          </a:p>
          <a:p>
            <a:pPr lvl="1" eaLnBrk="1" hangingPunct="1"/>
            <a:r>
              <a:rPr lang="en-US" altLang="en-US"/>
              <a:t>Differentiate between operational data and decision support data</a:t>
            </a:r>
          </a:p>
          <a:p>
            <a:pPr lvl="1" eaLnBrk="1" hangingPunct="1"/>
            <a:r>
              <a:rPr lang="en-US" altLang="en-US"/>
              <a:t>Identify the purpose, characteristics, and components of a data warehouse</a:t>
            </a:r>
          </a:p>
          <a:p>
            <a:pPr lvl="1" eaLnBrk="1" hangingPunct="1"/>
            <a:r>
              <a:rPr lang="en-US" altLang="en-US"/>
              <a:t>Develop star and snowflake schemas for decision-making purposes</a:t>
            </a:r>
          </a:p>
          <a:p>
            <a:pPr lvl="1" eaLnBrk="1" hangingPunct="1"/>
            <a:r>
              <a:rPr lang="en-US" altLang="en-US"/>
              <a:t>Describe the characteristics and capabilities of online analytical processing (OLAP)</a:t>
            </a:r>
          </a:p>
          <a:p>
            <a:pPr lvl="1" eaLnBrk="1" hangingPunct="1"/>
            <a:r>
              <a:rPr lang="en-US" altLang="en-US"/>
              <a:t>Describe the role and functions of data analytics and data mining</a:t>
            </a:r>
          </a:p>
          <a:p>
            <a:pPr lvl="1" eaLnBrk="1" hangingPunct="1"/>
            <a:r>
              <a:rPr lang="en-US" altLang="en-US"/>
              <a:t>Explain how SQL analytic functions are used to support data analytics</a:t>
            </a:r>
          </a:p>
          <a:p>
            <a:pPr lvl="1" eaLnBrk="1" hangingPunct="1"/>
            <a:r>
              <a:rPr lang="en-US" altLang="en-US"/>
              <a:t>Define data visualization and explain how it supports business intelligence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5FEB05-E9F0-48D3-A011-CFF37DAD96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2">
            <a:extLst>
              <a:ext uri="{FF2B5EF4-FFF2-40B4-BE49-F238E27FC236}">
                <a16:creationId xmlns:a16="http://schemas.microsoft.com/office/drawing/2014/main" id="{1CCB2523-6814-4B27-9B15-A5EDC9AC8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The Need for Data Analysis</a:t>
            </a:r>
          </a:p>
        </p:txBody>
      </p:sp>
      <p:sp>
        <p:nvSpPr>
          <p:cNvPr id="15363" name="Content Placeholder 1">
            <a:extLst>
              <a:ext uri="{FF2B5EF4-FFF2-40B4-BE49-F238E27FC236}">
                <a16:creationId xmlns:a16="http://schemas.microsoft.com/office/drawing/2014/main" id="{456B0CF5-F05F-43EA-A349-6B8FFE872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Organizations tend to grow and prosper as they gain a better understanding of their environment</a:t>
            </a:r>
          </a:p>
          <a:p>
            <a:pPr lvl="1" eaLnBrk="1" hangingPunct="1"/>
            <a:r>
              <a:rPr lang="en-US" altLang="en-US"/>
              <a:t>Evaluate through tracking daily transactions and analyzing company data</a:t>
            </a:r>
          </a:p>
          <a:p>
            <a:pPr eaLnBrk="1" hangingPunct="1"/>
            <a:r>
              <a:rPr lang="en-US" altLang="en-US"/>
              <a:t>Organizations are always looking for a competitive advantage </a:t>
            </a:r>
          </a:p>
          <a:p>
            <a:pPr lvl="1" eaLnBrk="1" hangingPunct="1"/>
            <a:r>
              <a:rPr lang="en-US" altLang="en-US"/>
              <a:t>Product development, market positioning, sales promotions, and customer service</a:t>
            </a:r>
          </a:p>
          <a:p>
            <a:pPr eaLnBrk="1" hangingPunct="1"/>
            <a:r>
              <a:rPr lang="en-US" altLang="en-US"/>
              <a:t>Companies and software vendors addressed these multilevel decision support needs by creating autonomous applications for particular groups of users</a:t>
            </a:r>
          </a:p>
          <a:p>
            <a:pPr lvl="1" eaLnBrk="1" hangingPunct="1"/>
            <a:r>
              <a:rPr lang="en-US" altLang="en-US"/>
              <a:t>This more comprehensive and integrated decision support framework within organizations became known as business intelligence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3B610D-68B1-4D15-BFA2-FB3CC0E5B5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5DAFAB15-C8A5-43DD-B4D9-C895103E4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Business Intelligence (1 of 2)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829425CE-F93C-41D1-968F-0E7040D3E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2439987"/>
          </a:xfrm>
        </p:spPr>
        <p:txBody>
          <a:bodyPr/>
          <a:lstStyle/>
          <a:p>
            <a:pPr eaLnBrk="1" hangingPunct="1"/>
            <a:r>
              <a:rPr lang="en-US" altLang="en-US"/>
              <a:t>Comprehensive, cohesive, integrated set of tools and processes</a:t>
            </a:r>
          </a:p>
          <a:p>
            <a:pPr lvl="1" eaLnBrk="1" hangingPunct="1"/>
            <a:r>
              <a:rPr lang="en-US" altLang="en-US"/>
              <a:t>Captures, collects, integrates, stores, and analyzes data</a:t>
            </a:r>
          </a:p>
          <a:p>
            <a:pPr lvl="1" eaLnBrk="1" hangingPunct="1"/>
            <a:r>
              <a:rPr lang="en-US" altLang="en-US"/>
              <a:t>Generates and presents information to support business decision making</a:t>
            </a:r>
          </a:p>
          <a:p>
            <a:pPr eaLnBrk="1" hangingPunct="1"/>
            <a:r>
              <a:rPr lang="en-US" altLang="en-US"/>
              <a:t>Allows transformation </a:t>
            </a:r>
          </a:p>
          <a:p>
            <a:pPr lvl="1" eaLnBrk="1" hangingPunct="1"/>
            <a:r>
              <a:rPr lang="en-US" altLang="en-US"/>
              <a:t>Data into information</a:t>
            </a:r>
          </a:p>
          <a:p>
            <a:pPr lvl="1" eaLnBrk="1" hangingPunct="1"/>
            <a:r>
              <a:rPr lang="en-US" altLang="en-US"/>
              <a:t>Information into knowledge</a:t>
            </a:r>
          </a:p>
          <a:p>
            <a:pPr lvl="1" eaLnBrk="1" hangingPunct="1"/>
            <a:r>
              <a:rPr lang="en-US" altLang="en-US"/>
              <a:t>Knowledge into wisdom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BD292-3CD2-48CA-8B63-7171289435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43A6B042-696C-479D-A775-EC2B14E4B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Business Intelligence (2 of 2) 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555E2E53-4658-4E4B-A620-6E4FA2C21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4092575"/>
          </a:xfrm>
        </p:spPr>
        <p:txBody>
          <a:bodyPr/>
          <a:lstStyle/>
          <a:p>
            <a:pPr eaLnBrk="1" hangingPunct="1"/>
            <a:r>
              <a:rPr lang="en-US" altLang="en-US"/>
              <a:t>Concepts, practices, tools and techniques to help business </a:t>
            </a:r>
          </a:p>
          <a:p>
            <a:pPr lvl="1" eaLnBrk="1" hangingPunct="1"/>
            <a:r>
              <a:rPr lang="en-US" altLang="en-US"/>
              <a:t>Understand core capabilities</a:t>
            </a:r>
          </a:p>
          <a:p>
            <a:pPr lvl="1" eaLnBrk="1" hangingPunct="1"/>
            <a:r>
              <a:rPr lang="en-US" altLang="en-US"/>
              <a:t>Provide snapshots of the company situation</a:t>
            </a:r>
          </a:p>
          <a:p>
            <a:pPr lvl="1" eaLnBrk="1" hangingPunct="1"/>
            <a:r>
              <a:rPr lang="en-US" altLang="en-US"/>
              <a:t>Identify key opportunities to create a competitive advantage</a:t>
            </a:r>
          </a:p>
          <a:p>
            <a:pPr eaLnBrk="1" hangingPunct="1"/>
            <a:r>
              <a:rPr lang="en-US" altLang="en-US"/>
              <a:t>Provides a framework </a:t>
            </a:r>
          </a:p>
          <a:p>
            <a:pPr lvl="1" eaLnBrk="1" hangingPunct="1"/>
            <a:r>
              <a:rPr lang="en-US" altLang="en-US"/>
              <a:t>Collecting and storing operational data and aggregating it into decision support data</a:t>
            </a:r>
          </a:p>
          <a:p>
            <a:pPr lvl="1" eaLnBrk="1" hangingPunct="1"/>
            <a:r>
              <a:rPr lang="en-US" altLang="en-US"/>
              <a:t>Analyzing decision support data and presenting generated information to end users to support business decisions</a:t>
            </a:r>
          </a:p>
          <a:p>
            <a:pPr lvl="1" eaLnBrk="1" hangingPunct="1"/>
            <a:r>
              <a:rPr lang="en-US" altLang="en-US"/>
              <a:t>Making business decisions which generate more data</a:t>
            </a:r>
          </a:p>
          <a:p>
            <a:pPr lvl="1" eaLnBrk="1" hangingPunct="1"/>
            <a:r>
              <a:rPr lang="en-US" altLang="en-US"/>
              <a:t>Monitoring results to evaluate outcomes and predicting future outcomes with a high degree of accuracy</a:t>
            </a:r>
          </a:p>
          <a:p>
            <a:pPr eaLnBrk="1" hangingPunct="1"/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73826-FC98-48F9-BC93-16D1EAC076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2">
            <a:extLst>
              <a:ext uri="{FF2B5EF4-FFF2-40B4-BE49-F238E27FC236}">
                <a16:creationId xmlns:a16="http://schemas.microsoft.com/office/drawing/2014/main" id="{B9E3332A-6268-42E2-A5DA-7B7BBBF0F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Business Intelligence Architecture (1 of 3)</a:t>
            </a:r>
          </a:p>
        </p:txBody>
      </p:sp>
      <p:pic>
        <p:nvPicPr>
          <p:cNvPr id="5" name="Picture 4" descr="Figure 13.1 depicts how people, processes, data, and technology work together in a business intelligence framework. " title="Figure 13.1">
            <a:extLst>
              <a:ext uri="{FF2B5EF4-FFF2-40B4-BE49-F238E27FC236}">
                <a16:creationId xmlns:a16="http://schemas.microsoft.com/office/drawing/2014/main" id="{401A149F-1A0E-4BFC-A1A5-D3966D583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295400"/>
            <a:ext cx="6996112" cy="439896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92FC6F-8870-44AA-BE7A-402B1EF51B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2">
            <a:extLst>
              <a:ext uri="{FF2B5EF4-FFF2-40B4-BE49-F238E27FC236}">
                <a16:creationId xmlns:a16="http://schemas.microsoft.com/office/drawing/2014/main" id="{EF889B77-4D14-4128-A3F2-CC817774C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Business Intelligence Architecture (2 of 3)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1CCDD60-7E3E-4DCB-8E02-A270DB4BFF3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1000" y="1524000"/>
          <a:ext cx="8255000" cy="3979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423">
                  <a:extLst>
                    <a:ext uri="{9D8B030D-6E8A-4147-A177-3AD203B41FA5}">
                      <a16:colId xmlns:a16="http://schemas.microsoft.com/office/drawing/2014/main" val="1964279822"/>
                    </a:ext>
                  </a:extLst>
                </a:gridCol>
                <a:gridCol w="6951577">
                  <a:extLst>
                    <a:ext uri="{9D8B030D-6E8A-4147-A177-3AD203B41FA5}">
                      <a16:colId xmlns:a16="http://schemas.microsoft.com/office/drawing/2014/main" val="685129943"/>
                    </a:ext>
                  </a:extLst>
                </a:gridCol>
              </a:tblGrid>
              <a:tr h="548627">
                <a:tc>
                  <a:txBody>
                    <a:bodyPr/>
                    <a:lstStyle/>
                    <a:p>
                      <a:r>
                        <a:rPr lang="en-US" sz="1000" dirty="0"/>
                        <a:t>Table 13.2</a:t>
                      </a:r>
                    </a:p>
                    <a:p>
                      <a:r>
                        <a:rPr lang="en-US" sz="1000" dirty="0"/>
                        <a:t>Basic BI Architectural Components</a:t>
                      </a:r>
                    </a:p>
                  </a:txBody>
                  <a:tcPr marT="45718" marB="45718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T="45718" marB="45718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403932"/>
                  </a:ext>
                </a:extLst>
              </a:tr>
              <a:tr h="291872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Component</a:t>
                      </a:r>
                    </a:p>
                  </a:txBody>
                  <a:tcPr marT="45718" marB="45718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marT="45718" marB="45718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43634"/>
                  </a:ext>
                </a:extLst>
              </a:tr>
              <a:tr h="396230">
                <a:tc>
                  <a:txBody>
                    <a:bodyPr/>
                    <a:lstStyle/>
                    <a:p>
                      <a:r>
                        <a:rPr lang="en-US" sz="1000" dirty="0"/>
                        <a:t>ETL tools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Data extraction, transformation, and loading (ETL ) tools collect,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filter, integrate, and aggregate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internal and external data to be saved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into a data store optimized for decision support.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303229792"/>
                  </a:ext>
                </a:extLst>
              </a:tr>
              <a:tr h="396230">
                <a:tc>
                  <a:txBody>
                    <a:bodyPr/>
                    <a:lstStyle/>
                    <a:p>
                      <a:r>
                        <a:rPr lang="en-US" sz="1000" dirty="0"/>
                        <a:t>Data store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The data store is optimized for decision support and is generally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represented by a data warehouse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or a data mart. The data is stored in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structures that are optimized for data analysis and query speed.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705856878"/>
                  </a:ext>
                </a:extLst>
              </a:tr>
              <a:tr h="396230">
                <a:tc>
                  <a:txBody>
                    <a:bodyPr/>
                    <a:lstStyle/>
                    <a:p>
                      <a:r>
                        <a:rPr lang="en-US" sz="1000" dirty="0"/>
                        <a:t>Query and</a:t>
                      </a:r>
                    </a:p>
                    <a:p>
                      <a:r>
                        <a:rPr lang="en-US" sz="1000" dirty="0"/>
                        <a:t>reporting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This component performs data selection and retrieval, and it is used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by the data analyst to create queries that access the database and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create the required reports.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158504581"/>
                  </a:ext>
                </a:extLst>
              </a:tr>
              <a:tr h="548627">
                <a:tc>
                  <a:txBody>
                    <a:bodyPr/>
                    <a:lstStyle/>
                    <a:p>
                      <a:r>
                        <a:rPr lang="en-US" sz="1000" dirty="0"/>
                        <a:t>Data visualization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This component presents data to the end user in a variety of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meaningful and innovative ways. This tool helps the end user select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the most appropriate presentation format, such as summary reports,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maps, pie or bar graphs, mixed graphs, and static or interactive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dashboards.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2121891909"/>
                  </a:ext>
                </a:extLst>
              </a:tr>
              <a:tr h="853421">
                <a:tc>
                  <a:txBody>
                    <a:bodyPr/>
                    <a:lstStyle/>
                    <a:p>
                      <a:r>
                        <a:rPr lang="en-US" sz="1000" dirty="0"/>
                        <a:t>Data monitoring</a:t>
                      </a:r>
                    </a:p>
                    <a:p>
                      <a:r>
                        <a:rPr lang="en-US" sz="1000" dirty="0"/>
                        <a:t>and alerting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This component allows real-time monitoring of business activities.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The BI system will present concise information in a single integrated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view. This integrated view could include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specific metrics about the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system performance or activities, such as number of orders placed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in the last four hours, number of customer complaints by product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by month, and total revenue by region. Alerts can be placed on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a given metric; once the value of a metric goes below or above a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certain baseline, the system will perform a given action, such as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emailing shop floor managers, presenting visual alerts, or starting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an application.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443221124"/>
                  </a:ext>
                </a:extLst>
              </a:tr>
              <a:tr h="548627">
                <a:tc>
                  <a:txBody>
                    <a:bodyPr/>
                    <a:lstStyle/>
                    <a:p>
                      <a:r>
                        <a:rPr lang="en-US" sz="1000" dirty="0"/>
                        <a:t>Data analytics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This component performs data analysis and data-mining tasks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using the data in the data store. This tool advises the user as to</a:t>
                      </a:r>
                    </a:p>
                    <a:p>
                      <a:r>
                        <a:rPr lang="en-US" sz="1000" dirty="0"/>
                        <a:t>which data analysis tool to select and how to build a reliable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business data model. Business models are generated by special</a:t>
                      </a:r>
                    </a:p>
                    <a:p>
                      <a:r>
                        <a:rPr lang="en-US" sz="1000" dirty="0"/>
                        <a:t>algorithms that identify and enhance the understanding of</a:t>
                      </a:r>
                      <a:r>
                        <a:rPr lang="en-US" sz="1000" baseline="0" dirty="0"/>
                        <a:t> </a:t>
                      </a:r>
                      <a:r>
                        <a:rPr lang="en-US" sz="1000" dirty="0"/>
                        <a:t>business situations and problems.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2994779651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739E1B-83B1-452F-BFD2-EC0BDBEE03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2">
            <a:extLst>
              <a:ext uri="{FF2B5EF4-FFF2-40B4-BE49-F238E27FC236}">
                <a16:creationId xmlns:a16="http://schemas.microsoft.com/office/drawing/2014/main" id="{1F3F8126-5ADE-4AB0-9356-583B70DB4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Business Intelligence Architecture (3 of 3)</a:t>
            </a:r>
          </a:p>
        </p:txBody>
      </p:sp>
      <p:sp>
        <p:nvSpPr>
          <p:cNvPr id="20483" name="Content Placeholder 1">
            <a:extLst>
              <a:ext uri="{FF2B5EF4-FFF2-40B4-BE49-F238E27FC236}">
                <a16:creationId xmlns:a16="http://schemas.microsoft.com/office/drawing/2014/main" id="{A8F06BC8-909E-451D-9459-2C8B36EDA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Practices to manage data</a:t>
            </a:r>
          </a:p>
          <a:p>
            <a:pPr lvl="1" eaLnBrk="1" hangingPunct="1"/>
            <a:r>
              <a:rPr lang="en-US" altLang="en-US"/>
              <a:t>Master data management (MDM): collection of concepts, techniques, and processes for identification, definition, and management of data elements</a:t>
            </a:r>
          </a:p>
          <a:p>
            <a:pPr lvl="1" eaLnBrk="1" hangingPunct="1"/>
            <a:r>
              <a:rPr lang="en-US" altLang="en-US"/>
              <a:t>Governance: method of government for controlling business health and for consistent decision making</a:t>
            </a:r>
          </a:p>
          <a:p>
            <a:pPr lvl="1" eaLnBrk="1" hangingPunct="1"/>
            <a:r>
              <a:rPr lang="en-US" altLang="en-US"/>
              <a:t>Key performance indicators (KPI): numeric or scale-based measurements that assess company’s effectiveness in reaching its goals</a:t>
            </a:r>
          </a:p>
          <a:p>
            <a:pPr lvl="2" eaLnBrk="1" hangingPunct="1"/>
            <a:r>
              <a:rPr lang="en-US" altLang="en-US"/>
              <a:t>General</a:t>
            </a:r>
          </a:p>
          <a:p>
            <a:pPr lvl="2" eaLnBrk="1" hangingPunct="1"/>
            <a:r>
              <a:rPr lang="en-US" altLang="en-US"/>
              <a:t>Finance </a:t>
            </a:r>
          </a:p>
          <a:p>
            <a:pPr lvl="2" eaLnBrk="1" hangingPunct="1"/>
            <a:r>
              <a:rPr lang="en-US" altLang="en-US"/>
              <a:t>Human resources</a:t>
            </a:r>
          </a:p>
          <a:p>
            <a:pPr lvl="2" eaLnBrk="1" hangingPunct="1"/>
            <a:r>
              <a:rPr lang="en-US" altLang="en-US"/>
              <a:t>Education </a:t>
            </a:r>
          </a:p>
          <a:p>
            <a:pPr lvl="1" eaLnBrk="1" hangingPunct="1"/>
            <a:r>
              <a:rPr lang="en-US" altLang="en-US"/>
              <a:t>Modern BI reporting styles</a:t>
            </a:r>
          </a:p>
          <a:p>
            <a:pPr lvl="2" eaLnBrk="1" hangingPunct="1"/>
            <a:r>
              <a:rPr lang="en-US" altLang="en-US"/>
              <a:t>Advanced reporting</a:t>
            </a:r>
          </a:p>
          <a:p>
            <a:pPr lvl="2" eaLnBrk="1" hangingPunct="1"/>
            <a:r>
              <a:rPr lang="en-US" altLang="en-US"/>
              <a:t>Monitoring and alerting</a:t>
            </a:r>
          </a:p>
          <a:p>
            <a:pPr lvl="2" eaLnBrk="1" hangingPunct="1"/>
            <a:r>
              <a:rPr lang="en-US" altLang="en-US"/>
              <a:t>Advanced data analytics</a:t>
            </a:r>
          </a:p>
          <a:p>
            <a:pPr lvl="1" eaLnBrk="1" hangingPunct="1"/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CAEB2F-37D4-4B61-BE4D-8F33731E22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2">
            <a:extLst>
              <a:ext uri="{FF2B5EF4-FFF2-40B4-BE49-F238E27FC236}">
                <a16:creationId xmlns:a16="http://schemas.microsoft.com/office/drawing/2014/main" id="{2D75317B-4181-4263-9C80-DD74AEA4B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Business Intelligence Benefits</a:t>
            </a:r>
          </a:p>
        </p:txBody>
      </p:sp>
      <p:sp>
        <p:nvSpPr>
          <p:cNvPr id="21507" name="Content Placeholder 1">
            <a:extLst>
              <a:ext uri="{FF2B5EF4-FFF2-40B4-BE49-F238E27FC236}">
                <a16:creationId xmlns:a16="http://schemas.microsoft.com/office/drawing/2014/main" id="{9E759318-FE60-4315-BEB3-B95CC345B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2995612"/>
          </a:xfrm>
        </p:spPr>
        <p:txBody>
          <a:bodyPr/>
          <a:lstStyle/>
          <a:p>
            <a:pPr eaLnBrk="1" hangingPunct="1"/>
            <a:r>
              <a:rPr lang="en-US" altLang="en-US"/>
              <a:t>Improved decision making is the main goal of BI, but BI provides other benefits</a:t>
            </a:r>
          </a:p>
          <a:p>
            <a:pPr lvl="1" eaLnBrk="1" hangingPunct="1"/>
            <a:r>
              <a:rPr lang="en-US" altLang="en-US"/>
              <a:t>Integrating architecture</a:t>
            </a:r>
          </a:p>
          <a:p>
            <a:pPr lvl="1" eaLnBrk="1" hangingPunct="1"/>
            <a:r>
              <a:rPr lang="en-US" altLang="en-US"/>
              <a:t>Common user interface for data reporting and analysis</a:t>
            </a:r>
          </a:p>
          <a:p>
            <a:pPr lvl="1" eaLnBrk="1" hangingPunct="1"/>
            <a:r>
              <a:rPr lang="en-US" altLang="en-US"/>
              <a:t>Common data repository fosters single version of company data</a:t>
            </a:r>
          </a:p>
          <a:p>
            <a:pPr lvl="1" eaLnBrk="1" hangingPunct="1"/>
            <a:r>
              <a:rPr lang="en-US" altLang="en-US"/>
              <a:t>Improved organizational performance</a:t>
            </a:r>
          </a:p>
          <a:p>
            <a:pPr eaLnBrk="1" hangingPunct="1"/>
            <a:r>
              <a:rPr lang="en-US" altLang="en-US"/>
              <a:t>Achieving all these benefits takes a lot of human, financial, technological resources, and time</a:t>
            </a:r>
          </a:p>
          <a:p>
            <a:pPr lvl="1" eaLnBrk="1" hangingPunct="1"/>
            <a:r>
              <a:rPr lang="en-US" altLang="en-US"/>
              <a:t>BI benefits are not achieved overnight; are the result of a focused company-wide effort that could take a long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607DE-647F-45EA-88E4-4323BC7CC4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99DA5F9A-BDC0-4183-95A1-DEC42A22D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Business Intelligence Evolution (1 of 2)</a:t>
            </a:r>
          </a:p>
        </p:txBody>
      </p:sp>
      <p:pic>
        <p:nvPicPr>
          <p:cNvPr id="2" name="Picture 1" descr="The evolution of BI information dissemination from the 1970s until today is illustrated in Figure 13.2. " title="Figure 13.2 ">
            <a:extLst>
              <a:ext uri="{FF2B5EF4-FFF2-40B4-BE49-F238E27FC236}">
                <a16:creationId xmlns:a16="http://schemas.microsoft.com/office/drawing/2014/main" id="{29E9B871-E03C-4ECE-BEAC-ADB5793C9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8" y="1676400"/>
            <a:ext cx="7850187" cy="364966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067CD-C09D-4274-A1F7-28F3D447D8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2">
            <a:extLst>
              <a:ext uri="{FF2B5EF4-FFF2-40B4-BE49-F238E27FC236}">
                <a16:creationId xmlns:a16="http://schemas.microsoft.com/office/drawing/2014/main" id="{CCFDC0CA-324E-408F-A5D0-1DE837F8D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Business Intelligence Evolution (2 of 2)</a:t>
            </a:r>
          </a:p>
        </p:txBody>
      </p:sp>
      <p:sp>
        <p:nvSpPr>
          <p:cNvPr id="23555" name="Content Placeholder 1">
            <a:extLst>
              <a:ext uri="{FF2B5EF4-FFF2-40B4-BE49-F238E27FC236}">
                <a16:creationId xmlns:a16="http://schemas.microsoft.com/office/drawing/2014/main" id="{094C0BCB-A963-4F55-94AF-EC6F701E5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2266950"/>
          </a:xfrm>
        </p:spPr>
        <p:txBody>
          <a:bodyPr/>
          <a:lstStyle/>
          <a:p>
            <a:pPr eaLnBrk="1" hangingPunct="1"/>
            <a:r>
              <a:rPr lang="en-US" altLang="en-US"/>
              <a:t>Decision support system (DSS) is an arrangement of computerized tools used to assist managerial decision making</a:t>
            </a:r>
          </a:p>
          <a:p>
            <a:pPr lvl="1" eaLnBrk="1" hangingPunct="1"/>
            <a:r>
              <a:rPr lang="en-US" altLang="en-US"/>
              <a:t>Typically has a much narrower focus and reach than a BI solution</a:t>
            </a:r>
          </a:p>
          <a:p>
            <a:pPr eaLnBrk="1" hangingPunct="1"/>
            <a:r>
              <a:rPr lang="en-US" altLang="en-US"/>
              <a:t>BI information technology has evolved from centralized reporting styles to the current, mobile BI and Big Data analytics style in the span of just a few years</a:t>
            </a:r>
          </a:p>
          <a:p>
            <a:pPr lvl="1" eaLnBrk="1" hangingPunct="1"/>
            <a:r>
              <a:rPr lang="en-US" altLang="en-US"/>
              <a:t>The rate of technological change is not slowing down; technology advancements are accelerating the adoption of BI to new levels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DF4444-C59C-4FD9-AA35-EA79D6A9BE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2">
            <a:extLst>
              <a:ext uri="{FF2B5EF4-FFF2-40B4-BE49-F238E27FC236}">
                <a16:creationId xmlns:a16="http://schemas.microsoft.com/office/drawing/2014/main" id="{863877AE-AC0C-45E2-AB33-9107CD4B1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Business Intelligence Technology Trends</a:t>
            </a:r>
          </a:p>
        </p:txBody>
      </p:sp>
      <p:sp>
        <p:nvSpPr>
          <p:cNvPr id="24579" name="Content Placeholder 1">
            <a:extLst>
              <a:ext uri="{FF2B5EF4-FFF2-40B4-BE49-F238E27FC236}">
                <a16:creationId xmlns:a16="http://schemas.microsoft.com/office/drawing/2014/main" id="{788A0257-A765-497E-89CE-0064670FB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2286000"/>
          </a:xfrm>
        </p:spPr>
        <p:txBody>
          <a:bodyPr/>
          <a:lstStyle/>
          <a:p>
            <a:pPr eaLnBrk="1" hangingPunct="1"/>
            <a:r>
              <a:rPr lang="en-US" altLang="en-US"/>
              <a:t>Several technological advances are driving the growth of business intelligence technologies</a:t>
            </a:r>
          </a:p>
          <a:p>
            <a:pPr lvl="1" eaLnBrk="1" hangingPunct="1"/>
            <a:r>
              <a:rPr lang="en-US" altLang="en-US"/>
              <a:t>Data storage improvements</a:t>
            </a:r>
          </a:p>
          <a:p>
            <a:pPr lvl="1" eaLnBrk="1" hangingPunct="1"/>
            <a:r>
              <a:rPr lang="en-US" altLang="en-US"/>
              <a:t>Business intelligence appliances</a:t>
            </a:r>
          </a:p>
          <a:p>
            <a:pPr lvl="1" eaLnBrk="1" hangingPunct="1"/>
            <a:r>
              <a:rPr lang="en-US" altLang="en-US"/>
              <a:t>Business intelligence as a service</a:t>
            </a:r>
          </a:p>
          <a:p>
            <a:pPr lvl="1" eaLnBrk="1" hangingPunct="1"/>
            <a:r>
              <a:rPr lang="en-US" altLang="en-US"/>
              <a:t>Big Data analytics</a:t>
            </a:r>
          </a:p>
          <a:p>
            <a:pPr lvl="1" eaLnBrk="1" hangingPunct="1"/>
            <a:r>
              <a:rPr lang="en-US" altLang="en-US"/>
              <a:t>Personal analytics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5265DF-7A1A-4151-95E8-F54B38A648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2">
            <a:extLst>
              <a:ext uri="{FF2B5EF4-FFF2-40B4-BE49-F238E27FC236}">
                <a16:creationId xmlns:a16="http://schemas.microsoft.com/office/drawing/2014/main" id="{12AF8C05-19BD-482E-B503-74D268709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Decision Support Data</a:t>
            </a:r>
          </a:p>
        </p:txBody>
      </p:sp>
      <p:sp>
        <p:nvSpPr>
          <p:cNvPr id="25603" name="Content Placeholder 1">
            <a:extLst>
              <a:ext uri="{FF2B5EF4-FFF2-40B4-BE49-F238E27FC236}">
                <a16:creationId xmlns:a16="http://schemas.microsoft.com/office/drawing/2014/main" id="{88EE65B8-D6E8-467B-AA9C-F2A9884DF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1217612"/>
          </a:xfrm>
        </p:spPr>
        <p:txBody>
          <a:bodyPr/>
          <a:lstStyle/>
          <a:p>
            <a:pPr eaLnBrk="1" hangingPunct="1"/>
            <a:r>
              <a:rPr lang="en-US" altLang="en-US"/>
              <a:t>Although BI is used at the strategic and tactical managerial levels within organizations, its effectiveness depends on the quality of data gathered at the operational level</a:t>
            </a:r>
          </a:p>
          <a:p>
            <a:pPr lvl="1" eaLnBrk="1" hangingPunct="1"/>
            <a:r>
              <a:rPr lang="en-US" altLang="en-US"/>
              <a:t>Operational data is seldom well suited to decision support tasks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1DCAEC-587B-492B-9BDD-59027590CB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2">
            <a:extLst>
              <a:ext uri="{FF2B5EF4-FFF2-40B4-BE49-F238E27FC236}">
                <a16:creationId xmlns:a16="http://schemas.microsoft.com/office/drawing/2014/main" id="{2B7B9914-CFE0-4804-8B0A-578E89C7B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Operational Data versus Decision Support Data (1 of 3)</a:t>
            </a:r>
          </a:p>
        </p:txBody>
      </p:sp>
      <p:sp>
        <p:nvSpPr>
          <p:cNvPr id="26627" name="Content Placeholder 1">
            <a:extLst>
              <a:ext uri="{FF2B5EF4-FFF2-40B4-BE49-F238E27FC236}">
                <a16:creationId xmlns:a16="http://schemas.microsoft.com/office/drawing/2014/main" id="{A2D3E73C-03AD-4E5C-BF9B-1BC06758D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2703512"/>
          </a:xfrm>
        </p:spPr>
        <p:txBody>
          <a:bodyPr/>
          <a:lstStyle/>
          <a:p>
            <a:pPr eaLnBrk="1" hangingPunct="1"/>
            <a:r>
              <a:rPr lang="en-US" altLang="en-US"/>
              <a:t>Operational data and decision support data serve different purposes</a:t>
            </a:r>
          </a:p>
          <a:p>
            <a:pPr lvl="1" eaLnBrk="1" hangingPunct="1"/>
            <a:r>
              <a:rPr lang="en-US" altLang="en-US"/>
              <a:t>Operational data is useful for capturing daily business transactions</a:t>
            </a:r>
          </a:p>
          <a:p>
            <a:pPr lvl="1" eaLnBrk="1" hangingPunct="1"/>
            <a:r>
              <a:rPr lang="en-US" altLang="en-US"/>
              <a:t>Decision support data gives tactical and strategic business meaning to the operational data</a:t>
            </a:r>
          </a:p>
          <a:p>
            <a:pPr eaLnBrk="1" hangingPunct="1"/>
            <a:r>
              <a:rPr lang="en-US" altLang="en-US"/>
              <a:t>Decision support data differs from operational data in three main areas</a:t>
            </a:r>
          </a:p>
          <a:p>
            <a:pPr lvl="1" eaLnBrk="1" hangingPunct="1"/>
            <a:r>
              <a:rPr lang="en-US" altLang="en-US"/>
              <a:t>Time span</a:t>
            </a:r>
          </a:p>
          <a:p>
            <a:pPr lvl="1" eaLnBrk="1" hangingPunct="1"/>
            <a:r>
              <a:rPr lang="en-US" altLang="en-US"/>
              <a:t>Granularity (level of aggregation)</a:t>
            </a:r>
          </a:p>
          <a:p>
            <a:pPr lvl="1" eaLnBrk="1" hangingPunct="1"/>
            <a:r>
              <a:rPr lang="en-US" altLang="en-US"/>
              <a:t>Dimensionality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220419-7BB1-4593-87A1-771CD12DBF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2">
            <a:extLst>
              <a:ext uri="{FF2B5EF4-FFF2-40B4-BE49-F238E27FC236}">
                <a16:creationId xmlns:a16="http://schemas.microsoft.com/office/drawing/2014/main" id="{297048B3-4EC1-4C31-BD3C-A6776A7E7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Operational Data versus Decision Support Data (2 of 3)</a:t>
            </a:r>
          </a:p>
        </p:txBody>
      </p:sp>
      <p:pic>
        <p:nvPicPr>
          <p:cNvPr id="6" name="Content Placeholder 5" descr="Figure 13.3 shows how operational data can be transformed into decision support data and examined from multiple dimensions. " title="Figure 13.3">
            <a:extLst>
              <a:ext uri="{FF2B5EF4-FFF2-40B4-BE49-F238E27FC236}">
                <a16:creationId xmlns:a16="http://schemas.microsoft.com/office/drawing/2014/main" id="{B908A598-294C-402B-A758-7BAF8BE3F6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1219200"/>
            <a:ext cx="6784975" cy="473075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484CA2-4D13-4205-9BD5-B6C3E2BF43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2">
            <a:extLst>
              <a:ext uri="{FF2B5EF4-FFF2-40B4-BE49-F238E27FC236}">
                <a16:creationId xmlns:a16="http://schemas.microsoft.com/office/drawing/2014/main" id="{FC419364-8B33-493D-8504-299ED4D6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Operational Data versus Decision Support Data (3 of 3)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6D247E1-43B8-4AC5-A3E7-F1927E2BCC1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73063" y="1098550"/>
          <a:ext cx="8415336" cy="5126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5112">
                  <a:extLst>
                    <a:ext uri="{9D8B030D-6E8A-4147-A177-3AD203B41FA5}">
                      <a16:colId xmlns:a16="http://schemas.microsoft.com/office/drawing/2014/main" val="3884424787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245444782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4104857773"/>
                    </a:ext>
                  </a:extLst>
                </a:gridCol>
              </a:tblGrid>
              <a:tr h="640173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Table 13.5</a:t>
                      </a:r>
                    </a:p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Contrasting Operational and Decision Support Data Characteristics</a:t>
                      </a:r>
                    </a:p>
                  </a:txBody>
                  <a:tcPr marT="45727" marB="4572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T="45727" marB="4572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T="45727" marB="45727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820863"/>
                  </a:ext>
                </a:extLst>
              </a:tr>
              <a:tr h="37576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Characteristic</a:t>
                      </a:r>
                    </a:p>
                  </a:txBody>
                  <a:tcPr marT="45727" marB="4572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Operational Data</a:t>
                      </a:r>
                    </a:p>
                  </a:txBody>
                  <a:tcPr marT="45727" marB="4572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Decision Support Data</a:t>
                      </a:r>
                    </a:p>
                  </a:txBody>
                  <a:tcPr marT="45727" marB="45727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47895"/>
                  </a:ext>
                </a:extLst>
              </a:tr>
              <a:tr h="640173">
                <a:tc>
                  <a:txBody>
                    <a:bodyPr/>
                    <a:lstStyle/>
                    <a:p>
                      <a:r>
                        <a:rPr lang="en-US" sz="1200" dirty="0"/>
                        <a:t>Data currency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Current operations</a:t>
                      </a:r>
                    </a:p>
                    <a:p>
                      <a:r>
                        <a:rPr lang="en-US" sz="1200" dirty="0"/>
                        <a:t>Real-time data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Historic data</a:t>
                      </a:r>
                    </a:p>
                    <a:p>
                      <a:r>
                        <a:rPr lang="en-US" sz="1200" dirty="0"/>
                        <a:t>Snapshot of company data</a:t>
                      </a:r>
                    </a:p>
                    <a:p>
                      <a:r>
                        <a:rPr lang="en-US" sz="1200" dirty="0"/>
                        <a:t>Time component (week/month/year)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841055517"/>
                  </a:ext>
                </a:extLst>
              </a:tr>
              <a:tr h="279227">
                <a:tc>
                  <a:txBody>
                    <a:bodyPr/>
                    <a:lstStyle/>
                    <a:p>
                      <a:r>
                        <a:rPr lang="en-US" sz="1200" dirty="0"/>
                        <a:t>Granularity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Atomic-detailed data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Summarized data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2434044731"/>
                  </a:ext>
                </a:extLst>
              </a:tr>
              <a:tr h="274360">
                <a:tc>
                  <a:txBody>
                    <a:bodyPr/>
                    <a:lstStyle/>
                    <a:p>
                      <a:r>
                        <a:rPr lang="en-US" sz="1200" dirty="0"/>
                        <a:t>Summarization level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Low; some aggregate yields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High; many aggregation levels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3724715729"/>
                  </a:ext>
                </a:extLst>
              </a:tr>
              <a:tr h="823080">
                <a:tc>
                  <a:txBody>
                    <a:bodyPr/>
                    <a:lstStyle/>
                    <a:p>
                      <a:r>
                        <a:rPr lang="en-US" sz="1200" dirty="0"/>
                        <a:t>Data model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Highly normalized</a:t>
                      </a:r>
                    </a:p>
                    <a:p>
                      <a:r>
                        <a:rPr lang="en-US" sz="1200" dirty="0"/>
                        <a:t>Mostly relational DBMSs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Non-normalized</a:t>
                      </a:r>
                    </a:p>
                    <a:p>
                      <a:r>
                        <a:rPr lang="en-US" sz="1200" dirty="0"/>
                        <a:t>Complex structures</a:t>
                      </a:r>
                    </a:p>
                    <a:p>
                      <a:r>
                        <a:rPr lang="en-US" sz="1200" dirty="0"/>
                        <a:t>Some relational, but mostly multidimensional DBMSs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3441308265"/>
                  </a:ext>
                </a:extLst>
              </a:tr>
              <a:tr h="274360">
                <a:tc>
                  <a:txBody>
                    <a:bodyPr/>
                    <a:lstStyle/>
                    <a:p>
                      <a:r>
                        <a:rPr lang="en-US" sz="1200" dirty="0"/>
                        <a:t>Transaction type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Mostly updates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Mostly query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970296388"/>
                  </a:ext>
                </a:extLst>
              </a:tr>
              <a:tr h="304844">
                <a:tc>
                  <a:txBody>
                    <a:bodyPr/>
                    <a:lstStyle/>
                    <a:p>
                      <a:r>
                        <a:rPr lang="en-US" sz="1200" dirty="0"/>
                        <a:t>Transaction volumes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High-update volumes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Periodic loads and summary calculations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2506057675"/>
                  </a:ext>
                </a:extLst>
              </a:tr>
              <a:tr h="304844">
                <a:tc>
                  <a:txBody>
                    <a:bodyPr/>
                    <a:lstStyle/>
                    <a:p>
                      <a:r>
                        <a:rPr lang="en-US" sz="1200" dirty="0"/>
                        <a:t>Transaction speed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Updates are critical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Retrievals are critical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910571737"/>
                  </a:ext>
                </a:extLst>
              </a:tr>
              <a:tr h="274360">
                <a:tc>
                  <a:txBody>
                    <a:bodyPr/>
                    <a:lstStyle/>
                    <a:p>
                      <a:r>
                        <a:rPr lang="en-US" sz="1200" dirty="0"/>
                        <a:t>Query activity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Low to medium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High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2016542766"/>
                  </a:ext>
                </a:extLst>
              </a:tr>
              <a:tr h="274360">
                <a:tc>
                  <a:txBody>
                    <a:bodyPr/>
                    <a:lstStyle/>
                    <a:p>
                      <a:r>
                        <a:rPr lang="en-US" sz="1200" dirty="0"/>
                        <a:t>Query scope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Narrow range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Broad range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987733109"/>
                  </a:ext>
                </a:extLst>
              </a:tr>
              <a:tr h="289602">
                <a:tc>
                  <a:txBody>
                    <a:bodyPr/>
                    <a:lstStyle/>
                    <a:p>
                      <a:r>
                        <a:rPr lang="en-US" sz="1200" dirty="0"/>
                        <a:t>Query complexity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Simple to medium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Very complex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3848267347"/>
                  </a:ext>
                </a:extLst>
              </a:tr>
              <a:tr h="370894">
                <a:tc>
                  <a:txBody>
                    <a:bodyPr/>
                    <a:lstStyle/>
                    <a:p>
                      <a:r>
                        <a:rPr lang="en-US" sz="1200" dirty="0"/>
                        <a:t>Data volumes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Hundreds of gigabytes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Terabytes to petabytes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891278314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38EB93-C4C3-4908-A99B-E9741ACDEC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D0132E84-7FD5-46B8-854B-38DE0834D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Decision Support Database Requirements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EB0CFE95-964B-453C-9550-967FA682E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5032375"/>
          </a:xfrm>
        </p:spPr>
        <p:txBody>
          <a:bodyPr/>
          <a:lstStyle/>
          <a:p>
            <a:pPr eaLnBrk="1" hangingPunct="1"/>
            <a:r>
              <a:rPr lang="en-US" altLang="en-US"/>
              <a:t>Database schema</a:t>
            </a:r>
          </a:p>
          <a:p>
            <a:pPr lvl="1" eaLnBrk="1" hangingPunct="1"/>
            <a:r>
              <a:rPr lang="en-US" altLang="en-US"/>
              <a:t>Must support complex, non-normalized data representations</a:t>
            </a:r>
          </a:p>
          <a:p>
            <a:pPr lvl="1" eaLnBrk="1" hangingPunct="1"/>
            <a:r>
              <a:rPr lang="en-US" altLang="en-US"/>
              <a:t>Data must be aggregated and summarized</a:t>
            </a:r>
          </a:p>
          <a:p>
            <a:pPr lvl="1" eaLnBrk="1" hangingPunct="1"/>
            <a:r>
              <a:rPr lang="en-US" altLang="en-US"/>
              <a:t>Queries must be able to extract multidimensional time slices</a:t>
            </a:r>
          </a:p>
          <a:p>
            <a:pPr eaLnBrk="1" hangingPunct="1"/>
            <a:r>
              <a:rPr lang="en-US" altLang="en-US"/>
              <a:t>Data extraction and filtering </a:t>
            </a:r>
          </a:p>
          <a:p>
            <a:pPr lvl="1" eaLnBrk="1" hangingPunct="1"/>
            <a:r>
              <a:rPr lang="en-US" altLang="en-US"/>
              <a:t>Allow batch and scheduled data extraction</a:t>
            </a:r>
          </a:p>
          <a:p>
            <a:pPr lvl="1" eaLnBrk="1" hangingPunct="1"/>
            <a:r>
              <a:rPr lang="en-US" altLang="en-US"/>
              <a:t>Support different data sources and check for inconsistent data or data validation rules</a:t>
            </a:r>
          </a:p>
          <a:p>
            <a:pPr lvl="1" eaLnBrk="1" hangingPunct="1"/>
            <a:r>
              <a:rPr lang="en-US" altLang="en-US"/>
              <a:t>Encourage advanced integration, aggregation, and classification</a:t>
            </a:r>
          </a:p>
          <a:p>
            <a:pPr eaLnBrk="1" hangingPunct="1"/>
            <a:r>
              <a:rPr lang="en-US" altLang="en-US"/>
              <a:t>Database size </a:t>
            </a:r>
          </a:p>
          <a:p>
            <a:pPr lvl="1" eaLnBrk="1" hangingPunct="1"/>
            <a:r>
              <a:rPr lang="en-US" altLang="en-US"/>
              <a:t>Very large databases (VLDBs)</a:t>
            </a:r>
          </a:p>
          <a:p>
            <a:pPr lvl="1" eaLnBrk="1" hangingPunct="1"/>
            <a:r>
              <a:rPr lang="en-US" altLang="en-US"/>
              <a:t>Advanced storage technologies</a:t>
            </a:r>
          </a:p>
          <a:p>
            <a:pPr lvl="1" eaLnBrk="1" hangingPunct="1"/>
            <a:r>
              <a:rPr lang="en-US" altLang="en-US"/>
              <a:t>Multiple-processor technologies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68BA8A-FA7E-4987-AF39-EA6064558F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B46AB2D8-A348-4615-89AA-A77508D50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The Data Warehouse (1 of 3)</a:t>
            </a:r>
          </a:p>
        </p:txBody>
      </p:sp>
      <p:sp>
        <p:nvSpPr>
          <p:cNvPr id="30723" name="Content Placeholder 1">
            <a:extLst>
              <a:ext uri="{FF2B5EF4-FFF2-40B4-BE49-F238E27FC236}">
                <a16:creationId xmlns:a16="http://schemas.microsoft.com/office/drawing/2014/main" id="{0FB3C52F-794A-41AF-AC36-AF689C2DE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2779712"/>
          </a:xfrm>
        </p:spPr>
        <p:txBody>
          <a:bodyPr/>
          <a:lstStyle/>
          <a:p>
            <a:pPr eaLnBrk="1" hangingPunct="1"/>
            <a:r>
              <a:rPr lang="en-US" altLang="en-US"/>
              <a:t>Collection of data </a:t>
            </a:r>
          </a:p>
          <a:p>
            <a:pPr lvl="1" eaLnBrk="1" hangingPunct="1"/>
            <a:r>
              <a:rPr lang="en-US" altLang="en-US"/>
              <a:t>Provides support for decision making</a:t>
            </a:r>
          </a:p>
          <a:p>
            <a:pPr eaLnBrk="1" hangingPunct="1"/>
            <a:r>
              <a:rPr lang="en-US" altLang="en-US"/>
              <a:t>Components </a:t>
            </a:r>
          </a:p>
          <a:p>
            <a:pPr lvl="1" eaLnBrk="1" hangingPunct="1"/>
            <a:r>
              <a:rPr lang="en-US" altLang="en-US"/>
              <a:t>Integrated</a:t>
            </a:r>
          </a:p>
          <a:p>
            <a:pPr lvl="1" eaLnBrk="1" hangingPunct="1"/>
            <a:r>
              <a:rPr lang="en-US" altLang="en-US"/>
              <a:t>Subject-oriented</a:t>
            </a:r>
          </a:p>
          <a:p>
            <a:pPr lvl="1" eaLnBrk="1" hangingPunct="1"/>
            <a:r>
              <a:rPr lang="en-US" altLang="en-US"/>
              <a:t>Time-variant</a:t>
            </a:r>
          </a:p>
          <a:p>
            <a:pPr lvl="1" eaLnBrk="1" hangingPunct="1"/>
            <a:r>
              <a:rPr lang="en-US" altLang="en-US"/>
              <a:t>Nonvolatile</a:t>
            </a:r>
          </a:p>
          <a:p>
            <a:pPr lvl="1" eaLnBrk="1" hangingPunct="1"/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F6535-CBFD-4B77-B8D9-78D573D12D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2">
            <a:extLst>
              <a:ext uri="{FF2B5EF4-FFF2-40B4-BE49-F238E27FC236}">
                <a16:creationId xmlns:a16="http://schemas.microsoft.com/office/drawing/2014/main" id="{A0004E8B-6DC0-440A-BC0B-8953E9B1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The Data Warehouse (2 of 3)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E217C7A-685A-4385-BCF8-984F96E4A9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0363" y="1082675"/>
          <a:ext cx="8415336" cy="5216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9474">
                  <a:extLst>
                    <a:ext uri="{9D8B030D-6E8A-4147-A177-3AD203B41FA5}">
                      <a16:colId xmlns:a16="http://schemas.microsoft.com/office/drawing/2014/main" val="2177530827"/>
                    </a:ext>
                  </a:extLst>
                </a:gridCol>
                <a:gridCol w="3460750">
                  <a:extLst>
                    <a:ext uri="{9D8B030D-6E8A-4147-A177-3AD203B41FA5}">
                      <a16:colId xmlns:a16="http://schemas.microsoft.com/office/drawing/2014/main" val="697057514"/>
                    </a:ext>
                  </a:extLst>
                </a:gridCol>
                <a:gridCol w="2805112">
                  <a:extLst>
                    <a:ext uri="{9D8B030D-6E8A-4147-A177-3AD203B41FA5}">
                      <a16:colId xmlns:a16="http://schemas.microsoft.com/office/drawing/2014/main" val="2752878246"/>
                    </a:ext>
                  </a:extLst>
                </a:gridCol>
              </a:tblGrid>
              <a:tr h="822864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Table 13.8</a:t>
                      </a:r>
                    </a:p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Characteristics of Data Warehouse Data and Operational Database Data</a:t>
                      </a:r>
                    </a:p>
                  </a:txBody>
                  <a:tcPr marT="45709" marB="4570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T="45709" marB="4570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T="45709" marB="45709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932676"/>
                  </a:ext>
                </a:extLst>
              </a:tr>
              <a:tr h="370757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Characteristic</a:t>
                      </a:r>
                    </a:p>
                  </a:txBody>
                  <a:tcPr marT="45709" marB="4570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Operational Database Data</a:t>
                      </a:r>
                    </a:p>
                  </a:txBody>
                  <a:tcPr marT="45709" marB="4570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Data Warehouse Data</a:t>
                      </a:r>
                    </a:p>
                  </a:txBody>
                  <a:tcPr marT="45709" marB="45709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335044"/>
                  </a:ext>
                </a:extLst>
              </a:tr>
              <a:tr h="1188587">
                <a:tc>
                  <a:txBody>
                    <a:bodyPr/>
                    <a:lstStyle/>
                    <a:p>
                      <a:r>
                        <a:rPr lang="en-US" sz="1200" dirty="0"/>
                        <a:t>Integrated</a:t>
                      </a:r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Similar data can have different representations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or meanings. For example, Social Security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numbers may be stored as ###-##-#### or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as #########, and a given condition may be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labeled as T/F or 0/1 or Y/N. A sales value may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be shown in thousands or in millions.</a:t>
                      </a:r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Provide a unified view of all data elements with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a common definition and representation for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all business units.</a:t>
                      </a:r>
                    </a:p>
                  </a:txBody>
                  <a:tcPr marT="45709" marB="45709"/>
                </a:tc>
                <a:extLst>
                  <a:ext uri="{0D108BD9-81ED-4DB2-BD59-A6C34878D82A}">
                    <a16:rowId xmlns:a16="http://schemas.microsoft.com/office/drawing/2014/main" val="1578798409"/>
                  </a:ext>
                </a:extLst>
              </a:tr>
              <a:tr h="1005726">
                <a:tc>
                  <a:txBody>
                    <a:bodyPr/>
                    <a:lstStyle/>
                    <a:p>
                      <a:r>
                        <a:rPr lang="en-US" sz="1200" dirty="0"/>
                        <a:t>Subject-oriented</a:t>
                      </a:r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Data is stored with a functional, or process,</a:t>
                      </a:r>
                    </a:p>
                    <a:p>
                      <a:r>
                        <a:rPr lang="en-US" sz="1200" dirty="0"/>
                        <a:t>orientation. For example, data may be stored</a:t>
                      </a:r>
                    </a:p>
                    <a:p>
                      <a:r>
                        <a:rPr lang="en-US" sz="1200" dirty="0"/>
                        <a:t>for invoices, payments, and credit amounts.</a:t>
                      </a:r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Data is stored with a subject orientation that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facilitates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multiple views of the data and decision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making. For example, sales may be recorded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by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product, division, manager, or region.</a:t>
                      </a:r>
                    </a:p>
                  </a:txBody>
                  <a:tcPr marT="45709" marB="45709"/>
                </a:tc>
                <a:extLst>
                  <a:ext uri="{0D108BD9-81ED-4DB2-BD59-A6C34878D82A}">
                    <a16:rowId xmlns:a16="http://schemas.microsoft.com/office/drawing/2014/main" val="285036538"/>
                  </a:ext>
                </a:extLst>
              </a:tr>
              <a:tr h="822864">
                <a:tc>
                  <a:txBody>
                    <a:bodyPr/>
                    <a:lstStyle/>
                    <a:p>
                      <a:r>
                        <a:rPr lang="en-US" sz="1200" dirty="0"/>
                        <a:t>Time-variant</a:t>
                      </a:r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Data is recorded as current transactions. For</a:t>
                      </a:r>
                    </a:p>
                    <a:p>
                      <a:r>
                        <a:rPr lang="en-US" sz="1200" dirty="0"/>
                        <a:t>example, the sales data may be the sale of a</a:t>
                      </a:r>
                    </a:p>
                    <a:p>
                      <a:r>
                        <a:rPr lang="en-US" sz="1200" dirty="0"/>
                        <a:t>product on a given date, such as $342.78 on</a:t>
                      </a:r>
                    </a:p>
                    <a:p>
                      <a:r>
                        <a:rPr lang="en-US" sz="1200" dirty="0"/>
                        <a:t>12-MAY-2016.</a:t>
                      </a:r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Data is recorded with a historical perspective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in mind. Therefore, a time dimension is added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to facilitate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data analysis and various time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comparisons.</a:t>
                      </a:r>
                    </a:p>
                  </a:txBody>
                  <a:tcPr marT="45709" marB="45709"/>
                </a:tc>
                <a:extLst>
                  <a:ext uri="{0D108BD9-81ED-4DB2-BD59-A6C34878D82A}">
                    <a16:rowId xmlns:a16="http://schemas.microsoft.com/office/drawing/2014/main" val="1773763091"/>
                  </a:ext>
                </a:extLst>
              </a:tr>
              <a:tr h="1005726">
                <a:tc>
                  <a:txBody>
                    <a:bodyPr/>
                    <a:lstStyle/>
                    <a:p>
                      <a:r>
                        <a:rPr lang="en-US" sz="1200" dirty="0"/>
                        <a:t>Nonvolatile</a:t>
                      </a:r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Data updates are frequent and common. For</a:t>
                      </a:r>
                    </a:p>
                    <a:p>
                      <a:r>
                        <a:rPr lang="en-US" sz="1200" dirty="0"/>
                        <a:t>example, an inventory amount changes with</a:t>
                      </a:r>
                    </a:p>
                    <a:p>
                      <a:r>
                        <a:rPr lang="en-US" sz="1200" dirty="0"/>
                        <a:t>each sale. Therefore, the data environment</a:t>
                      </a:r>
                    </a:p>
                    <a:p>
                      <a:r>
                        <a:rPr lang="en-US" sz="1200" dirty="0"/>
                        <a:t>is fluid.</a:t>
                      </a:r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Data cannot be changed. Data is added only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periodically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from historical systems. Once the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data is properly stored, no changes are allowed.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Therefore,</a:t>
                      </a:r>
                    </a:p>
                    <a:p>
                      <a:r>
                        <a:rPr lang="en-US" sz="1200" dirty="0"/>
                        <a:t>the data environment is relatively static.</a:t>
                      </a:r>
                    </a:p>
                  </a:txBody>
                  <a:tcPr marT="45709" marB="45709"/>
                </a:tc>
                <a:extLst>
                  <a:ext uri="{0D108BD9-81ED-4DB2-BD59-A6C34878D82A}">
                    <a16:rowId xmlns:a16="http://schemas.microsoft.com/office/drawing/2014/main" val="3124827776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D7A440-4B17-4E73-B532-481E143D63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D48DC649-8E5D-4FDD-A98E-30B95B3F2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The Data Warehouse (3 of 3)</a:t>
            </a:r>
          </a:p>
        </p:txBody>
      </p:sp>
      <p:pic>
        <p:nvPicPr>
          <p:cNvPr id="5" name="Content Placeholder 4" descr="Figure 13.4 depicts the creation of a data warehouse through transforming operational data using the ETL process.   " title="Figure 13.4 ">
            <a:extLst>
              <a:ext uri="{FF2B5EF4-FFF2-40B4-BE49-F238E27FC236}">
                <a16:creationId xmlns:a16="http://schemas.microsoft.com/office/drawing/2014/main" id="{B2F0F9FE-D0EB-492D-ABFA-03BB54EF5F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1524000"/>
            <a:ext cx="7058025" cy="411480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BBB426-DEEF-442F-9387-2E9157D32D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F2B58DAD-A5D4-4478-983E-2881FE0F6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Data Marts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61BB8D75-67BC-45C4-91CC-D515A6611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2100262"/>
          </a:xfrm>
        </p:spPr>
        <p:txBody>
          <a:bodyPr/>
          <a:lstStyle/>
          <a:p>
            <a:pPr eaLnBrk="1" hangingPunct="1"/>
            <a:r>
              <a:rPr lang="en-US" altLang="en-US"/>
              <a:t>Small, single-subject data warehouse subset</a:t>
            </a:r>
          </a:p>
          <a:p>
            <a:pPr lvl="1" eaLnBrk="1" hangingPunct="1"/>
            <a:r>
              <a:rPr lang="en-US" altLang="en-US"/>
              <a:t>Provides decision support to a small group of people</a:t>
            </a:r>
          </a:p>
          <a:p>
            <a:pPr eaLnBrk="1" hangingPunct="1"/>
            <a:r>
              <a:rPr lang="en-US" altLang="en-US"/>
              <a:t>Benefits over data warehouses</a:t>
            </a:r>
          </a:p>
          <a:p>
            <a:pPr lvl="1" eaLnBrk="1" hangingPunct="1"/>
            <a:r>
              <a:rPr lang="en-US" altLang="en-US"/>
              <a:t>Lower cost and shorter implementation time </a:t>
            </a:r>
          </a:p>
          <a:p>
            <a:pPr lvl="1" eaLnBrk="1" hangingPunct="1"/>
            <a:r>
              <a:rPr lang="en-US" altLang="en-US"/>
              <a:t>Technologically advanced</a:t>
            </a:r>
          </a:p>
          <a:p>
            <a:pPr lvl="1" eaLnBrk="1" hangingPunct="1"/>
            <a:r>
              <a:rPr lang="en-US" altLang="en-US"/>
              <a:t>Inevitable “people issues”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9964E3-9B88-4B8F-A818-CDEA7CD5ED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D4A77FF9-724E-4E03-B19D-99F26C3FC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Twelve Rules That Define a Data Warehouse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6C87A2FE-6D21-4083-B1C0-AA269411503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73063" y="1117600"/>
          <a:ext cx="8415337" cy="5207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538">
                  <a:extLst>
                    <a:ext uri="{9D8B030D-6E8A-4147-A177-3AD203B41FA5}">
                      <a16:colId xmlns:a16="http://schemas.microsoft.com/office/drawing/2014/main" val="3434314918"/>
                    </a:ext>
                  </a:extLst>
                </a:gridCol>
                <a:gridCol w="7416799">
                  <a:extLst>
                    <a:ext uri="{9D8B030D-6E8A-4147-A177-3AD203B41FA5}">
                      <a16:colId xmlns:a16="http://schemas.microsoft.com/office/drawing/2014/main" val="1063518127"/>
                    </a:ext>
                  </a:extLst>
                </a:gridCol>
              </a:tblGrid>
              <a:tr h="33031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Table 13.9</a:t>
                      </a:r>
                    </a:p>
                  </a:txBody>
                  <a:tcPr marT="45718" marB="45718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Twelve Rules for a Data Warehouse</a:t>
                      </a:r>
                    </a:p>
                  </a:txBody>
                  <a:tcPr marT="45718" marB="45718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860291"/>
                  </a:ext>
                </a:extLst>
              </a:tr>
              <a:tr h="304787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Rule No.</a:t>
                      </a:r>
                    </a:p>
                  </a:txBody>
                  <a:tcPr marT="45718" marB="45718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marT="45718" marB="45718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729369"/>
                  </a:ext>
                </a:extLst>
              </a:tr>
              <a:tr h="274313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data warehouse and operational environments are separated.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3504779994"/>
                  </a:ext>
                </a:extLst>
              </a:tr>
              <a:tr h="274313"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data warehouse data is integrated.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4102137579"/>
                  </a:ext>
                </a:extLst>
              </a:tr>
              <a:tr h="274313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data warehouse contains historical data over a long time.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475420356"/>
                  </a:ext>
                </a:extLst>
              </a:tr>
              <a:tr h="274313"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data warehouse data is snapshot data captured at a given point in time.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3552330602"/>
                  </a:ext>
                </a:extLst>
              </a:tr>
              <a:tr h="274313"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data warehouse data is subject oriented.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93741448"/>
                  </a:ext>
                </a:extLst>
              </a:tr>
              <a:tr h="457190"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data warehouse data is mainly read-only with periodic batch updates</a:t>
                      </a:r>
                      <a:r>
                        <a:rPr lang="en-US" sz="1200" baseline="0" dirty="0"/>
                        <a:t> f</a:t>
                      </a:r>
                      <a:r>
                        <a:rPr lang="en-US" sz="1200" dirty="0"/>
                        <a:t>rom operational data. No online updates are allowed.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249245680"/>
                  </a:ext>
                </a:extLst>
              </a:tr>
              <a:tr h="457190">
                <a:tc>
                  <a:txBody>
                    <a:bodyPr/>
                    <a:lstStyle/>
                    <a:p>
                      <a:r>
                        <a:rPr lang="en-US" sz="1200" dirty="0"/>
                        <a:t>7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data warehouse development life cycle differs from classical systems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development. Data warehouse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development is data-driven; the classical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approach is process-driven.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135499050"/>
                  </a:ext>
                </a:extLst>
              </a:tr>
              <a:tr h="457190">
                <a:tc>
                  <a:txBody>
                    <a:bodyPr/>
                    <a:lstStyle/>
                    <a:p>
                      <a:r>
                        <a:rPr lang="en-US" sz="1200" dirty="0"/>
                        <a:t>8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data warehouse contains data with several levels of detail: current detail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data, old detail data, lightly summarized data, and highly summarized data.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4101463194"/>
                  </a:ext>
                </a:extLst>
              </a:tr>
              <a:tr h="457190">
                <a:tc>
                  <a:txBody>
                    <a:bodyPr/>
                    <a:lstStyle/>
                    <a:p>
                      <a:r>
                        <a:rPr lang="en-US" sz="1200" dirty="0"/>
                        <a:t>9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data warehouse environment is characterized by read-only transactions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to very large data sets. The operational environment is characterized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by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numerous update transactions to a few data entities at a time.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573401486"/>
                  </a:ext>
                </a:extLst>
              </a:tr>
              <a:tr h="274313"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data warehouse environment has a system that traces data sources,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transformations, and storage.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4153768830"/>
                  </a:ext>
                </a:extLst>
              </a:tr>
              <a:tr h="640067">
                <a:tc>
                  <a:txBody>
                    <a:bodyPr/>
                    <a:lstStyle/>
                    <a:p>
                      <a:r>
                        <a:rPr lang="en-US" sz="1200" dirty="0"/>
                        <a:t>11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data warehouse’s metadata is a critical component of this environment.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The metadata identifies and defines all data elements. The metadata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provides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the source, transformation, integration, storage, usage,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relationships,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and history of each data element.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2108838723"/>
                  </a:ext>
                </a:extLst>
              </a:tr>
              <a:tr h="457190">
                <a:tc>
                  <a:txBody>
                    <a:bodyPr/>
                    <a:lstStyle/>
                    <a:p>
                      <a:r>
                        <a:rPr lang="en-US" sz="1200" dirty="0"/>
                        <a:t>12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data warehouse contains a chargeback mechanism for resource usage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that enforces optimal use of the data by end users.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2310592151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035F6-6C8E-40D2-B27F-978FF5E82D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33EE02A2-1CC9-4CDC-AF04-082F2897F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Star Schemas (1 of 5)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A3BAD0D3-A34C-42D4-A56C-D34201199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1576387"/>
          </a:xfrm>
        </p:spPr>
        <p:txBody>
          <a:bodyPr/>
          <a:lstStyle/>
          <a:p>
            <a:pPr eaLnBrk="1" hangingPunct="1"/>
            <a:r>
              <a:rPr lang="en-US" altLang="en-US"/>
              <a:t>Data-modeling technique</a:t>
            </a:r>
          </a:p>
          <a:p>
            <a:pPr lvl="1" eaLnBrk="1" hangingPunct="1"/>
            <a:r>
              <a:rPr lang="en-US" altLang="en-US"/>
              <a:t>Maps multidimensional decision support data into a relational database</a:t>
            </a:r>
          </a:p>
          <a:p>
            <a:pPr lvl="1" eaLnBrk="1" hangingPunct="1"/>
            <a:r>
              <a:rPr lang="en-US" altLang="en-US"/>
              <a:t>Creates the near equivalent of multidimensional database schema from existing relational database</a:t>
            </a:r>
          </a:p>
          <a:p>
            <a:pPr lvl="1" eaLnBrk="1" hangingPunct="1"/>
            <a:r>
              <a:rPr lang="en-US" altLang="en-US"/>
              <a:t>Yields an easily implemented model for multidimensional data analysis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9433C3-BE8C-4344-BDC4-1964A3EF06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87ED080B-DFD9-4AE0-A869-E84DB393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Star Schemas (2 of 5)</a:t>
            </a:r>
          </a:p>
        </p:txBody>
      </p:sp>
      <p:sp>
        <p:nvSpPr>
          <p:cNvPr id="36867" name="Content Placeholder 6">
            <a:extLst>
              <a:ext uri="{FF2B5EF4-FFF2-40B4-BE49-F238E27FC236}">
                <a16:creationId xmlns:a16="http://schemas.microsoft.com/office/drawing/2014/main" id="{2A4FE7A1-B8AE-4837-A3D2-9AEEEEC5E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3665537"/>
          </a:xfrm>
        </p:spPr>
        <p:txBody>
          <a:bodyPr/>
          <a:lstStyle/>
          <a:p>
            <a:pPr eaLnBrk="1" hangingPunct="1"/>
            <a:r>
              <a:rPr lang="en-US" altLang="en-US"/>
              <a:t>Basic star schema components </a:t>
            </a:r>
          </a:p>
          <a:p>
            <a:pPr lvl="1" eaLnBrk="1" hangingPunct="1"/>
            <a:r>
              <a:rPr lang="en-US" altLang="en-US"/>
              <a:t>Facts: numeric values that represent a specific business aspect</a:t>
            </a:r>
          </a:p>
          <a:p>
            <a:pPr lvl="1" eaLnBrk="1" hangingPunct="1"/>
            <a:r>
              <a:rPr lang="en-US" altLang="en-US"/>
              <a:t>Dimensions: qualifying characteristics that provide additional perspectives to a given fact</a:t>
            </a:r>
          </a:p>
          <a:p>
            <a:pPr lvl="1" eaLnBrk="1" hangingPunct="1"/>
            <a:r>
              <a:rPr lang="en-US" altLang="en-US"/>
              <a:t>Attributes: used to search, filter, and classify facts</a:t>
            </a:r>
          </a:p>
          <a:p>
            <a:pPr lvl="2" eaLnBrk="1" hangingPunct="1"/>
            <a:r>
              <a:rPr lang="en-US" altLang="en-US"/>
              <a:t>Slice and dice: ability to focus on slices of the data cube for more detailed analysis</a:t>
            </a:r>
          </a:p>
          <a:p>
            <a:pPr lvl="1" eaLnBrk="1" hangingPunct="1"/>
            <a:r>
              <a:rPr lang="en-US" altLang="en-US"/>
              <a:t>Attribute hierarchies: provide a top-down data organization</a:t>
            </a:r>
          </a:p>
          <a:p>
            <a:pPr lvl="2" eaLnBrk="1" hangingPunct="1"/>
            <a:r>
              <a:rPr lang="en-US" altLang="en-US"/>
              <a:t>Aggregation and drill-down/roll-up data analysis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06B38-E3AF-4FA5-AF9C-D3EE205476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4DCC2AAC-0CE0-4D40-8788-7B1BAE84F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Star Schemas (3 of 5)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B084EBC0-2665-4072-9A7A-EF72702F6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3686175"/>
          </a:xfrm>
        </p:spPr>
        <p:txBody>
          <a:bodyPr/>
          <a:lstStyle/>
          <a:p>
            <a:pPr eaLnBrk="1" hangingPunct="1"/>
            <a:r>
              <a:rPr lang="en-US" altLang="en-US"/>
              <a:t>Star schema representation</a:t>
            </a:r>
          </a:p>
          <a:p>
            <a:pPr lvl="1" eaLnBrk="1" hangingPunct="1"/>
            <a:r>
              <a:rPr lang="en-US" altLang="en-US"/>
              <a:t>Facts and dimensions represented by physical tables in data warehouse database</a:t>
            </a:r>
          </a:p>
          <a:p>
            <a:pPr lvl="1" eaLnBrk="1" hangingPunct="1"/>
            <a:r>
              <a:rPr lang="en-US" altLang="en-US"/>
              <a:t>Many-to-one (M:1) relationship between fact table and each dimension table</a:t>
            </a:r>
          </a:p>
          <a:p>
            <a:pPr eaLnBrk="1" hangingPunct="1"/>
            <a:r>
              <a:rPr lang="en-US" altLang="en-US"/>
              <a:t>Fact and dimension tables</a:t>
            </a:r>
          </a:p>
          <a:p>
            <a:pPr lvl="1" eaLnBrk="1" hangingPunct="1"/>
            <a:r>
              <a:rPr lang="en-US" altLang="en-US"/>
              <a:t>Related by foreign keys</a:t>
            </a:r>
          </a:p>
          <a:p>
            <a:pPr lvl="1" eaLnBrk="1" hangingPunct="1"/>
            <a:r>
              <a:rPr lang="en-US" altLang="en-US"/>
              <a:t>Subject to primary and foreign key constraints</a:t>
            </a:r>
          </a:p>
          <a:p>
            <a:pPr lvl="1" eaLnBrk="1" hangingPunct="1"/>
            <a:r>
              <a:rPr lang="en-US" altLang="en-US"/>
              <a:t>Primary key of a fact table </a:t>
            </a:r>
          </a:p>
          <a:p>
            <a:pPr lvl="2" eaLnBrk="1" hangingPunct="1"/>
            <a:r>
              <a:rPr lang="en-US" altLang="en-US"/>
              <a:t>Composite primary key because the fact table is related to many dimension tables</a:t>
            </a:r>
          </a:p>
          <a:p>
            <a:pPr lvl="2" eaLnBrk="1" hangingPunct="1"/>
            <a:r>
              <a:rPr lang="en-US" altLang="en-US"/>
              <a:t>Always formed by combining the foreign keys pointing to the related dimension tables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461DDD-5385-40F8-BB73-196DC9C45E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F7023314-78F0-4144-81EB-091C608F9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Star Schemas (4 of 5)</a:t>
            </a:r>
          </a:p>
        </p:txBody>
      </p:sp>
      <p:pic>
        <p:nvPicPr>
          <p:cNvPr id="5" name="Picture 4" descr="Figure 13.10 illustrates a star schema using the relationships among the sales table and product, location, and time dimension tables." title="Figure 13.10">
            <a:extLst>
              <a:ext uri="{FF2B5EF4-FFF2-40B4-BE49-F238E27FC236}">
                <a16:creationId xmlns:a16="http://schemas.microsoft.com/office/drawing/2014/main" id="{1AA13C9E-1F73-424F-9434-7484E29D6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474788"/>
            <a:ext cx="6765925" cy="443388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43B843-3FE7-4961-942D-DD5961A627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162CB1AB-1A94-4D7F-B770-A42BE9D8E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Star Schemas (5 of 5)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F4E72D1A-7934-4ED4-926E-CFE0BDF93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3868737"/>
          </a:xfrm>
        </p:spPr>
        <p:txBody>
          <a:bodyPr/>
          <a:lstStyle/>
          <a:p>
            <a:pPr eaLnBrk="1" hangingPunct="1"/>
            <a:r>
              <a:rPr lang="en-US" altLang="en-US"/>
              <a:t>Performance-improving techniques for the star schema</a:t>
            </a:r>
          </a:p>
          <a:p>
            <a:pPr lvl="1" eaLnBrk="1" hangingPunct="1"/>
            <a:r>
              <a:rPr lang="en-US" altLang="en-US"/>
              <a:t>Normalizing dimensional tables</a:t>
            </a:r>
          </a:p>
          <a:p>
            <a:pPr lvl="2" eaLnBrk="1" hangingPunct="1"/>
            <a:r>
              <a:rPr lang="en-US" altLang="en-US"/>
              <a:t>Snowflake schema: dimension tables can have their own dimension tables</a:t>
            </a:r>
          </a:p>
          <a:p>
            <a:pPr lvl="1" eaLnBrk="1" hangingPunct="1"/>
            <a:r>
              <a:rPr lang="en-US" altLang="en-US"/>
              <a:t>Maintaining multiple fact tables to represent different aggregation levels</a:t>
            </a:r>
          </a:p>
          <a:p>
            <a:pPr lvl="2" eaLnBrk="1" hangingPunct="1"/>
            <a:r>
              <a:rPr lang="en-US" altLang="en-US"/>
              <a:t>Save processor cycles at run time, thereby speeding up data analysis</a:t>
            </a:r>
          </a:p>
          <a:p>
            <a:pPr lvl="1" eaLnBrk="1" hangingPunct="1"/>
            <a:r>
              <a:rPr lang="en-US" altLang="en-US"/>
              <a:t>Denormalizing fact tables</a:t>
            </a:r>
          </a:p>
          <a:p>
            <a:pPr lvl="2" eaLnBrk="1" hangingPunct="1"/>
            <a:r>
              <a:rPr lang="en-US" altLang="en-US"/>
              <a:t>Improves data access performance and saves data storage space</a:t>
            </a:r>
          </a:p>
          <a:p>
            <a:pPr lvl="1" eaLnBrk="1" hangingPunct="1"/>
            <a:r>
              <a:rPr lang="en-US" altLang="en-US"/>
              <a:t>Partitioning and replicating tables</a:t>
            </a:r>
          </a:p>
          <a:p>
            <a:pPr lvl="2" eaLnBrk="1" hangingPunct="1"/>
            <a:r>
              <a:rPr lang="en-US" altLang="en-US"/>
              <a:t>Partitioning: splits tables into subsets of rows or columns and places them close to the client computer </a:t>
            </a:r>
          </a:p>
          <a:p>
            <a:pPr lvl="2" eaLnBrk="1" hangingPunct="1"/>
            <a:r>
              <a:rPr lang="en-US" altLang="en-US"/>
              <a:t>Replication: makes copy of table and places it in a different location</a:t>
            </a:r>
          </a:p>
          <a:p>
            <a:pPr lvl="2" eaLnBrk="1" hangingPunct="1"/>
            <a:r>
              <a:rPr lang="en-US" altLang="en-US"/>
              <a:t>Periodicity: provides information about the time span of the data stored in the table</a:t>
            </a:r>
          </a:p>
          <a:p>
            <a:pPr lvl="2" eaLnBrk="1" hangingPunct="1"/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BB8AF-4C27-42F9-A6C7-AC04AD7DEF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18A4FB3B-494D-4164-A5AD-D2A265CD1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Online Analytical Processing (OLAP) 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1B836CE9-34AF-40F3-90A7-417F1CBD2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1604962"/>
          </a:xfrm>
        </p:spPr>
        <p:txBody>
          <a:bodyPr/>
          <a:lstStyle/>
          <a:p>
            <a:pPr eaLnBrk="1" hangingPunct="1"/>
            <a:r>
              <a:rPr lang="en-US" altLang="en-US"/>
              <a:t>Online analytical processing (OLAP) is a BI style whose systems share three main characteristics</a:t>
            </a:r>
          </a:p>
          <a:p>
            <a:pPr lvl="1" eaLnBrk="1" hangingPunct="1"/>
            <a:r>
              <a:rPr lang="en-US" altLang="en-US"/>
              <a:t>Multidimensional data analysis techniques</a:t>
            </a:r>
          </a:p>
          <a:p>
            <a:pPr lvl="1" eaLnBrk="1" hangingPunct="1"/>
            <a:r>
              <a:rPr lang="en-US" altLang="en-US"/>
              <a:t>Advanced database support</a:t>
            </a:r>
          </a:p>
          <a:p>
            <a:pPr lvl="1" eaLnBrk="1" hangingPunct="1"/>
            <a:r>
              <a:rPr lang="en-US" altLang="en-US"/>
              <a:t>Easy-to-use end-user interfaces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351053-1769-4402-A1B9-B28795D4DD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747D1E5F-2170-43DB-B24E-6F565BEB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Multidimensional Data Analysis Techniques</a:t>
            </a:r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41F03AB8-4F42-44D1-8826-5FEF35F16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2703512"/>
          </a:xfrm>
        </p:spPr>
        <p:txBody>
          <a:bodyPr/>
          <a:lstStyle/>
          <a:p>
            <a:pPr eaLnBrk="1" hangingPunct="1"/>
            <a:r>
              <a:rPr lang="en-US" altLang="en-US"/>
              <a:t>Data are processed and viewed as part of a multidimensional structure</a:t>
            </a:r>
          </a:p>
          <a:p>
            <a:pPr lvl="1" eaLnBrk="1" hangingPunct="1"/>
            <a:r>
              <a:rPr lang="en-US" altLang="en-US"/>
              <a:t>Particularly attractive to business decision makers who tend to view business data as being related to other business data</a:t>
            </a:r>
          </a:p>
          <a:p>
            <a:pPr eaLnBrk="1" hangingPunct="1"/>
            <a:r>
              <a:rPr lang="en-US" altLang="en-US"/>
              <a:t>Augmented advanced functions</a:t>
            </a:r>
          </a:p>
          <a:p>
            <a:pPr lvl="1" eaLnBrk="1" hangingPunct="1"/>
            <a:r>
              <a:rPr lang="en-US" altLang="en-US"/>
              <a:t>Data presentation </a:t>
            </a:r>
          </a:p>
          <a:p>
            <a:pPr lvl="1" eaLnBrk="1" hangingPunct="1"/>
            <a:r>
              <a:rPr lang="en-US" altLang="en-US"/>
              <a:t>Data aggregation, consolidation, and classification </a:t>
            </a:r>
          </a:p>
          <a:p>
            <a:pPr lvl="1" eaLnBrk="1" hangingPunct="1"/>
            <a:r>
              <a:rPr lang="en-US" altLang="en-US"/>
              <a:t>Computational </a:t>
            </a:r>
          </a:p>
          <a:p>
            <a:pPr lvl="1" eaLnBrk="1" hangingPunct="1"/>
            <a:r>
              <a:rPr lang="en-US" altLang="en-US"/>
              <a:t>Data-modeling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41FFC9-A5C8-4B01-B093-2CE8E21BFF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BB4587BA-482D-4799-857A-A3C89DA06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Advanced Database Support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62FE4807-BF4B-487F-81C5-B821418F9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OLAP tools must have the following features to deliver efficient decision support:</a:t>
            </a:r>
          </a:p>
          <a:p>
            <a:pPr lvl="1" eaLnBrk="1" hangingPunct="1"/>
            <a:r>
              <a:rPr lang="en-US" altLang="en-US"/>
              <a:t>Access to many different kinds of DBMSs, flat files, and internal and external data sources</a:t>
            </a:r>
          </a:p>
          <a:p>
            <a:pPr lvl="1" eaLnBrk="1" hangingPunct="1"/>
            <a:r>
              <a:rPr lang="en-US" altLang="en-US"/>
              <a:t>Access to aggregated data warehouse data and operational database detail data</a:t>
            </a:r>
          </a:p>
          <a:p>
            <a:pPr lvl="1" eaLnBrk="1" hangingPunct="1"/>
            <a:r>
              <a:rPr lang="en-US" altLang="en-US"/>
              <a:t>Advanced data navigation features</a:t>
            </a:r>
          </a:p>
          <a:p>
            <a:pPr lvl="1" eaLnBrk="1" hangingPunct="1"/>
            <a:r>
              <a:rPr lang="en-US" altLang="en-US"/>
              <a:t>Rapid and consistent query response times</a:t>
            </a:r>
          </a:p>
          <a:p>
            <a:pPr lvl="1" eaLnBrk="1" hangingPunct="1"/>
            <a:r>
              <a:rPr lang="en-US" altLang="en-US"/>
              <a:t>Ability to map end-user requests</a:t>
            </a:r>
          </a:p>
          <a:p>
            <a:pPr lvl="1" eaLnBrk="1" hangingPunct="1"/>
            <a:r>
              <a:rPr lang="en-US" altLang="en-US"/>
              <a:t>Support for very large databases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F7E07-D31D-4415-BCE8-DD3AE436A6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BADA2C98-C61D-4A8B-8B4B-7EEDE3B04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Easy-to-Use End-User Interface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44A5E379-E5B2-491F-A853-C5DF577AE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1528762"/>
          </a:xfrm>
        </p:spPr>
        <p:txBody>
          <a:bodyPr/>
          <a:lstStyle/>
          <a:p>
            <a:pPr eaLnBrk="1" hangingPunct="1"/>
            <a:r>
              <a:rPr lang="en-US" altLang="en-US"/>
              <a:t>When proper implementation leads to simple navigation and accelerated decision making or data analysis</a:t>
            </a:r>
          </a:p>
          <a:p>
            <a:pPr lvl="1" eaLnBrk="1" hangingPunct="1"/>
            <a:r>
              <a:rPr lang="en-US" altLang="en-US"/>
              <a:t>Advanced OLAP features are more useful when access is kept simple</a:t>
            </a:r>
          </a:p>
          <a:p>
            <a:pPr lvl="1" eaLnBrk="1" hangingPunct="1"/>
            <a:r>
              <a:rPr lang="en-US" altLang="en-US"/>
              <a:t>Many interface features are borrowed from previous generations of data analysis tools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61140-B104-4A6F-BA4D-42940025DE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2">
            <a:extLst>
              <a:ext uri="{FF2B5EF4-FFF2-40B4-BE49-F238E27FC236}">
                <a16:creationId xmlns:a16="http://schemas.microsoft.com/office/drawing/2014/main" id="{0436A51C-BE05-4098-A4A8-EA45A7EF5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OLAP Architecture (1 of 2)</a:t>
            </a:r>
          </a:p>
        </p:txBody>
      </p:sp>
      <p:sp>
        <p:nvSpPr>
          <p:cNvPr id="45059" name="Content Placeholder 1">
            <a:extLst>
              <a:ext uri="{FF2B5EF4-FFF2-40B4-BE49-F238E27FC236}">
                <a16:creationId xmlns:a16="http://schemas.microsoft.com/office/drawing/2014/main" id="{FFCD58D1-23CF-4EAB-9B59-9ECDA20CF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1758950"/>
          </a:xfrm>
        </p:spPr>
        <p:txBody>
          <a:bodyPr/>
          <a:lstStyle/>
          <a:p>
            <a:pPr eaLnBrk="1" hangingPunct="1"/>
            <a:r>
              <a:rPr lang="en-US" altLang="en-US"/>
              <a:t>Designed to meet ease-of-use requirements while keeping the system flexible</a:t>
            </a:r>
          </a:p>
          <a:p>
            <a:pPr eaLnBrk="1" hangingPunct="1"/>
            <a:r>
              <a:rPr lang="en-US" altLang="en-US"/>
              <a:t>Main architectural components</a:t>
            </a:r>
          </a:p>
          <a:p>
            <a:pPr lvl="1" eaLnBrk="1" hangingPunct="1"/>
            <a:r>
              <a:rPr lang="en-US" altLang="en-US"/>
              <a:t>Graphical user interface (GUI)</a:t>
            </a:r>
          </a:p>
          <a:p>
            <a:pPr lvl="1" eaLnBrk="1" hangingPunct="1"/>
            <a:r>
              <a:rPr lang="en-US" altLang="en-US"/>
              <a:t>Analytical processing logic</a:t>
            </a:r>
          </a:p>
          <a:p>
            <a:pPr lvl="1" eaLnBrk="1" hangingPunct="1"/>
            <a:r>
              <a:rPr lang="en-US" altLang="en-US"/>
              <a:t>Data-processing logic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AC81E9-8E1E-4D34-B087-25035BA667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2">
            <a:extLst>
              <a:ext uri="{FF2B5EF4-FFF2-40B4-BE49-F238E27FC236}">
                <a16:creationId xmlns:a16="http://schemas.microsoft.com/office/drawing/2014/main" id="{80B9A5B6-4F5A-4F3A-8744-3BD04A1ED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OLAP Architecture (2 of 2)</a:t>
            </a:r>
          </a:p>
        </p:txBody>
      </p:sp>
      <p:pic>
        <p:nvPicPr>
          <p:cNvPr id="6" name="Content Placeholder 5" descr="Figure 13.16 illustrates OLAP’s architectural components on a single computer.  " title="Figure 13.16">
            <a:extLst>
              <a:ext uri="{FF2B5EF4-FFF2-40B4-BE49-F238E27FC236}">
                <a16:creationId xmlns:a16="http://schemas.microsoft.com/office/drawing/2014/main" id="{056FD080-46F0-42C7-9C94-0379DE48CB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7713" y="1295400"/>
            <a:ext cx="7543800" cy="466407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D52744-A283-4610-90A6-7E877F7C10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2E15C53B-3796-4ADA-A423-67797F35D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Relational OLAP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33FF99B0-8A93-4D6D-A99F-4C1383706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2362200"/>
          </a:xfrm>
        </p:spPr>
        <p:txBody>
          <a:bodyPr/>
          <a:lstStyle/>
          <a:p>
            <a:pPr eaLnBrk="1" hangingPunct="1"/>
            <a:r>
              <a:rPr lang="en-US" altLang="en-US"/>
              <a:t>Relational online analytical processing (ROLAP)</a:t>
            </a:r>
          </a:p>
          <a:p>
            <a:pPr lvl="1" eaLnBrk="1" hangingPunct="1"/>
            <a:r>
              <a:rPr lang="en-US" altLang="en-US"/>
              <a:t>Provides OLAP functionality using relational databases and familiar relational tools to store and analyze multidimensional data</a:t>
            </a:r>
          </a:p>
          <a:p>
            <a:pPr eaLnBrk="1" hangingPunct="1"/>
            <a:r>
              <a:rPr lang="en-US" altLang="en-US"/>
              <a:t>Extensions added to traditional RDBMS technology</a:t>
            </a:r>
          </a:p>
          <a:p>
            <a:pPr lvl="1" eaLnBrk="1" hangingPunct="1"/>
            <a:r>
              <a:rPr lang="en-US" altLang="en-US"/>
              <a:t>Multidimensional data schema support within the RDBMS</a:t>
            </a:r>
          </a:p>
          <a:p>
            <a:pPr lvl="1" eaLnBrk="1" hangingPunct="1"/>
            <a:r>
              <a:rPr lang="en-US" altLang="en-US"/>
              <a:t>Data access language and query performance optimized for multidimensional data</a:t>
            </a:r>
          </a:p>
          <a:p>
            <a:pPr lvl="1" eaLnBrk="1" hangingPunct="1"/>
            <a:r>
              <a:rPr lang="en-US" altLang="en-US"/>
              <a:t>Support for very large databases (VLDBs)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A0C7AC-5975-4521-A955-90E2CA0F2A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145A7227-8C0C-4037-82D9-14CCA0A75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Multidimensional OLAP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FDE5F497-1B2D-4166-87C4-38B800FED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2298700"/>
          </a:xfrm>
        </p:spPr>
        <p:txBody>
          <a:bodyPr/>
          <a:lstStyle/>
          <a:p>
            <a:pPr eaLnBrk="1" hangingPunct="1"/>
            <a:r>
              <a:rPr lang="en-US" altLang="en-US"/>
              <a:t>Multidimensional online analytical processing (MOLAP)</a:t>
            </a:r>
          </a:p>
          <a:p>
            <a:pPr lvl="1" eaLnBrk="1" hangingPunct="1"/>
            <a:r>
              <a:rPr lang="en-US" altLang="en-US"/>
              <a:t>Extends OLAP functionality to multidimensional database management systems (MDBMSs)</a:t>
            </a:r>
          </a:p>
          <a:p>
            <a:pPr lvl="2" eaLnBrk="1" hangingPunct="1"/>
            <a:r>
              <a:rPr lang="en-US" altLang="en-US"/>
              <a:t>MDBMS uses proprietary techniques store data in matrix-like </a:t>
            </a:r>
            <a:r>
              <a:rPr lang="en-US" altLang="en-US" i="1"/>
              <a:t>n</a:t>
            </a:r>
            <a:r>
              <a:rPr lang="en-US" altLang="en-US"/>
              <a:t>-dimensional arrays</a:t>
            </a:r>
          </a:p>
          <a:p>
            <a:pPr lvl="2" eaLnBrk="1" hangingPunct="1"/>
            <a:r>
              <a:rPr lang="en-US" altLang="en-US"/>
              <a:t>End users visualize stored data as a  three dimensional data cube</a:t>
            </a:r>
          </a:p>
          <a:p>
            <a:pPr lvl="3" eaLnBrk="1" hangingPunct="1"/>
            <a:r>
              <a:rPr lang="en-US" altLang="en-US"/>
              <a:t>Grow to </a:t>
            </a:r>
            <a:r>
              <a:rPr lang="en-US" altLang="en-US" i="1"/>
              <a:t>n</a:t>
            </a:r>
            <a:r>
              <a:rPr lang="en-US" altLang="en-US"/>
              <a:t> number dimensions, thus becoming hypercubes</a:t>
            </a:r>
          </a:p>
          <a:p>
            <a:pPr lvl="3" eaLnBrk="1" hangingPunct="1"/>
            <a:r>
              <a:rPr lang="en-US" altLang="en-US"/>
              <a:t>Held in memory in a cube cache to speed access</a:t>
            </a:r>
          </a:p>
          <a:p>
            <a:pPr lvl="1" eaLnBrk="1" hangingPunct="1"/>
            <a:r>
              <a:rPr lang="en-US" altLang="en-US"/>
              <a:t>Sparsity: measures density of data held in the data cube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5C621-272E-4B27-990B-87461042D6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21648EE4-4E0A-4E7C-BD15-B58014264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Relational versus Multidimensional OLAP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53B4E564-82B8-433C-AFD8-D9FFBB54E2E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8600" y="1360488"/>
          <a:ext cx="8415339" cy="4186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187922928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293530091"/>
                    </a:ext>
                  </a:extLst>
                </a:gridCol>
                <a:gridCol w="3386139">
                  <a:extLst>
                    <a:ext uri="{9D8B030D-6E8A-4147-A177-3AD203B41FA5}">
                      <a16:colId xmlns:a16="http://schemas.microsoft.com/office/drawing/2014/main" val="2077111082"/>
                    </a:ext>
                  </a:extLst>
                </a:gridCol>
              </a:tblGrid>
              <a:tr h="731575">
                <a:tc>
                  <a:txBody>
                    <a:bodyPr/>
                    <a:lstStyle/>
                    <a:p>
                      <a:r>
                        <a:rPr lang="fr-FR" sz="1400" dirty="0"/>
                        <a:t>Table 13.12</a:t>
                      </a:r>
                    </a:p>
                    <a:p>
                      <a:r>
                        <a:rPr lang="fr-FR" sz="1400" dirty="0"/>
                        <a:t>Relational vs. Multidimensional OLAP</a:t>
                      </a:r>
                      <a:endParaRPr lang="en-US" sz="14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57866863"/>
                  </a:ext>
                </a:extLst>
              </a:tr>
              <a:tr h="37086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Characteristic</a:t>
                      </a:r>
                    </a:p>
                  </a:txBody>
                  <a:tcPr marT="45723" marB="45723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ROLAP</a:t>
                      </a:r>
                    </a:p>
                  </a:txBody>
                  <a:tcPr marT="45723" marB="45723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MOLAP</a:t>
                      </a:r>
                    </a:p>
                  </a:txBody>
                  <a:tcPr marT="45723" marB="45723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780182"/>
                  </a:ext>
                </a:extLst>
              </a:tr>
              <a:tr h="1158328">
                <a:tc>
                  <a:txBody>
                    <a:bodyPr/>
                    <a:lstStyle/>
                    <a:p>
                      <a:r>
                        <a:rPr lang="en-US" sz="1400" dirty="0"/>
                        <a:t>Schema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Uses star schema</a:t>
                      </a:r>
                    </a:p>
                    <a:p>
                      <a:r>
                        <a:rPr lang="en-US" sz="1400" dirty="0"/>
                        <a:t>Additional dimensions can be added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dynamically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Uses data cubes</a:t>
                      </a:r>
                    </a:p>
                    <a:p>
                      <a:r>
                        <a:rPr lang="en-US" sz="1400" dirty="0"/>
                        <a:t>Multidimensional arrays, row stores, column stores</a:t>
                      </a:r>
                    </a:p>
                    <a:p>
                      <a:r>
                        <a:rPr lang="en-US" sz="1400" dirty="0"/>
                        <a:t>Additional dimensions require re-creation of the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data cube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2258888502"/>
                  </a:ext>
                </a:extLst>
              </a:tr>
              <a:tr h="370868">
                <a:tc>
                  <a:txBody>
                    <a:bodyPr/>
                    <a:lstStyle/>
                    <a:p>
                      <a:r>
                        <a:rPr lang="en-US" sz="1400" dirty="0"/>
                        <a:t>Database size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Medium to large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Large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470452527"/>
                  </a:ext>
                </a:extLst>
              </a:tr>
              <a:tr h="518199">
                <a:tc>
                  <a:txBody>
                    <a:bodyPr/>
                    <a:lstStyle/>
                    <a:p>
                      <a:r>
                        <a:rPr lang="en-US" sz="1400" dirty="0"/>
                        <a:t>Architecture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Client/server</a:t>
                      </a:r>
                    </a:p>
                    <a:p>
                      <a:r>
                        <a:rPr lang="en-US" sz="1400" dirty="0"/>
                        <a:t>Standards-based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Client/server</a:t>
                      </a:r>
                    </a:p>
                    <a:p>
                      <a:r>
                        <a:rPr lang="en-US" sz="1400" dirty="0"/>
                        <a:t>Open or proprietary, depending on vendor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271550039"/>
                  </a:ext>
                </a:extLst>
              </a:tr>
              <a:tr h="518199">
                <a:tc>
                  <a:txBody>
                    <a:bodyPr/>
                    <a:lstStyle/>
                    <a:p>
                      <a:r>
                        <a:rPr lang="en-US" sz="1400" dirty="0"/>
                        <a:t>Access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Supports ad hoc requests</a:t>
                      </a:r>
                    </a:p>
                    <a:p>
                      <a:r>
                        <a:rPr lang="en-US" sz="1400" dirty="0"/>
                        <a:t>Unlimited dimensions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Limited to predefined dimensions</a:t>
                      </a:r>
                    </a:p>
                    <a:p>
                      <a:r>
                        <a:rPr lang="en-US" sz="1400" dirty="0"/>
                        <a:t>Proprietary access languages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934344638"/>
                  </a:ext>
                </a:extLst>
              </a:tr>
              <a:tr h="518199">
                <a:tc>
                  <a:txBody>
                    <a:bodyPr/>
                    <a:lstStyle/>
                    <a:p>
                      <a:r>
                        <a:rPr lang="en-US" sz="1400" dirty="0"/>
                        <a:t>Speed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Good with small data sets; average for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medium-sized to large data sets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Faster for large data sets with predefined dimensions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432083761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2B004-B45D-44F1-9A34-3040276DA2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2">
            <a:extLst>
              <a:ext uri="{FF2B5EF4-FFF2-40B4-BE49-F238E27FC236}">
                <a16:creationId xmlns:a16="http://schemas.microsoft.com/office/drawing/2014/main" id="{B1FC7341-2E67-479C-893B-E4F1A291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Data Analytics (1 of 4)</a:t>
            </a:r>
          </a:p>
        </p:txBody>
      </p:sp>
      <p:sp>
        <p:nvSpPr>
          <p:cNvPr id="50179" name="Content Placeholder 1">
            <a:extLst>
              <a:ext uri="{FF2B5EF4-FFF2-40B4-BE49-F238E27FC236}">
                <a16:creationId xmlns:a16="http://schemas.microsoft.com/office/drawing/2014/main" id="{9BE69FAC-102D-48D6-9669-16093DE61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3689350"/>
          </a:xfrm>
        </p:spPr>
        <p:txBody>
          <a:bodyPr/>
          <a:lstStyle/>
          <a:p>
            <a:pPr eaLnBrk="1" hangingPunct="1"/>
            <a:r>
              <a:rPr lang="en-US" altLang="en-US"/>
              <a:t>Subset of business intelligence (BI) functionality that encompasses a wide range of mathematical, statistical, and modeling techniques with the purpose of extracting knowledge from data</a:t>
            </a:r>
          </a:p>
          <a:p>
            <a:pPr lvl="1" eaLnBrk="1" hangingPunct="1"/>
            <a:r>
              <a:rPr lang="en-US" altLang="en-US"/>
              <a:t>Explanatory analytics: focuses on discovering and explaining data characteristics and relationships based on existing data</a:t>
            </a:r>
          </a:p>
          <a:p>
            <a:pPr lvl="1" eaLnBrk="1" hangingPunct="1"/>
            <a:r>
              <a:rPr lang="en-US" altLang="en-US"/>
              <a:t>Predictive analytics: focuses on predicting future data outcomes with a high degree of accuracy</a:t>
            </a:r>
          </a:p>
          <a:p>
            <a:pPr eaLnBrk="1" hangingPunct="1"/>
            <a:r>
              <a:rPr lang="en-US" altLang="en-US"/>
              <a:t>Data mining focuses on the discovery and explanation stages of knowledge acquisition</a:t>
            </a:r>
          </a:p>
          <a:p>
            <a:pPr lvl="1" eaLnBrk="1" hangingPunct="1"/>
            <a:r>
              <a:rPr lang="en-US" altLang="en-US"/>
              <a:t>Analyzing massive amounts of data to uncover hidden trends, patterns, and relationships; to form computer models to simulate and explain the findings; and to use such models to support business decision making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25A05C-02B3-44BD-A61E-B895AD4622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2">
            <a:extLst>
              <a:ext uri="{FF2B5EF4-FFF2-40B4-BE49-F238E27FC236}">
                <a16:creationId xmlns:a16="http://schemas.microsoft.com/office/drawing/2014/main" id="{24ED3FDC-C186-4ACA-A083-932430A8D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Data Analytics (2 of 4)</a:t>
            </a:r>
          </a:p>
        </p:txBody>
      </p:sp>
      <p:pic>
        <p:nvPicPr>
          <p:cNvPr id="6" name="Content Placeholder 5" descr="In Figure 13.18, a pyramid is used to represent how knowledge is extracted from data through processing. " title="Figure 13.18">
            <a:extLst>
              <a:ext uri="{FF2B5EF4-FFF2-40B4-BE49-F238E27FC236}">
                <a16:creationId xmlns:a16="http://schemas.microsoft.com/office/drawing/2014/main" id="{A3B771A4-A50E-4B23-B4A7-7E92D63C2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800" y="1371600"/>
            <a:ext cx="5818188" cy="43291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FF26D-A4B7-4AE8-BE08-CBD3F8ACCF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2">
            <a:extLst>
              <a:ext uri="{FF2B5EF4-FFF2-40B4-BE49-F238E27FC236}">
                <a16:creationId xmlns:a16="http://schemas.microsoft.com/office/drawing/2014/main" id="{4BB16B18-AC73-4F1E-B11E-DEC165C7B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Data Analytics (3 of 4)</a:t>
            </a:r>
          </a:p>
        </p:txBody>
      </p:sp>
      <p:pic>
        <p:nvPicPr>
          <p:cNvPr id="5" name="Content Placeholder 4" descr="Figure 13.19 illustrates the different phases of the data-mining process:&#10;Data preparation&#10;Data analysis and classification&#10;Knowledge acquisition&#10;Prognosis" title="Figure 13.19">
            <a:extLst>
              <a:ext uri="{FF2B5EF4-FFF2-40B4-BE49-F238E27FC236}">
                <a16:creationId xmlns:a16="http://schemas.microsoft.com/office/drawing/2014/main" id="{7ADF7F2E-A893-4B9B-B4C9-A5ED39A70C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219200"/>
            <a:ext cx="6196013" cy="488632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F43172-C1C8-4912-B908-971024D69B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2">
            <a:extLst>
              <a:ext uri="{FF2B5EF4-FFF2-40B4-BE49-F238E27FC236}">
                <a16:creationId xmlns:a16="http://schemas.microsoft.com/office/drawing/2014/main" id="{DFD30AA7-924A-40C0-9C3F-5A337966D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Data Analytics (4 of 4)</a:t>
            </a:r>
          </a:p>
        </p:txBody>
      </p:sp>
      <p:sp>
        <p:nvSpPr>
          <p:cNvPr id="53251" name="Content Placeholder 5">
            <a:extLst>
              <a:ext uri="{FF2B5EF4-FFF2-40B4-BE49-F238E27FC236}">
                <a16:creationId xmlns:a16="http://schemas.microsoft.com/office/drawing/2014/main" id="{AA18FA28-ADEC-4040-AC07-3D4874EC4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2054225"/>
          </a:xfrm>
        </p:spPr>
        <p:txBody>
          <a:bodyPr/>
          <a:lstStyle/>
          <a:p>
            <a:pPr eaLnBrk="1" hangingPunct="1"/>
            <a:r>
              <a:rPr lang="en-US" altLang="en-US"/>
              <a:t>Predictive analytics focuses on creating actionable models to predict future behaviors and events</a:t>
            </a:r>
          </a:p>
          <a:p>
            <a:pPr lvl="1" eaLnBrk="1" hangingPunct="1"/>
            <a:r>
              <a:rPr lang="en-US" altLang="en-US"/>
              <a:t>Employs mathematical and statistical algorithms, neural networks, artificial intelligence, and other advanced modeling tools to create actionable predictive models based on available data</a:t>
            </a:r>
          </a:p>
          <a:p>
            <a:pPr lvl="1" eaLnBrk="1" hangingPunct="1"/>
            <a:r>
              <a:rPr lang="en-US" altLang="en-US"/>
              <a:t>Used in areas such as customer relationships, customer service, customer retention, fraud detection, targeted marketing, and optimized pricing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D43D87-47B1-4815-A218-AC2EA70753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44BEAE9D-7C64-4D11-AC95-BC3900484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SQL Analytic Functions (1 of 2)</a:t>
            </a:r>
          </a:p>
        </p:txBody>
      </p:sp>
      <p:sp>
        <p:nvSpPr>
          <p:cNvPr id="54275" name="Content Placeholder 6">
            <a:extLst>
              <a:ext uri="{FF2B5EF4-FFF2-40B4-BE49-F238E27FC236}">
                <a16:creationId xmlns:a16="http://schemas.microsoft.com/office/drawing/2014/main" id="{EC5CEB8E-AE2D-49AE-A621-B9E9EEB11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3589337"/>
          </a:xfrm>
        </p:spPr>
        <p:txBody>
          <a:bodyPr/>
          <a:lstStyle/>
          <a:p>
            <a:pPr eaLnBrk="1" hangingPunct="1"/>
            <a:r>
              <a:rPr lang="en-US" altLang="en-US"/>
              <a:t>The ROLLUP extension</a:t>
            </a:r>
          </a:p>
          <a:p>
            <a:pPr lvl="1" eaLnBrk="1" hangingPunct="1"/>
            <a:r>
              <a:rPr lang="en-US" altLang="en-US"/>
              <a:t>Used with GROUP BY clause to generate aggregates by different dimensions</a:t>
            </a:r>
          </a:p>
          <a:p>
            <a:pPr lvl="1" eaLnBrk="1" hangingPunct="1"/>
            <a:r>
              <a:rPr lang="en-US" altLang="en-US"/>
              <a:t>Enables subtotal for each column listed except for the last one, which gets a grand total</a:t>
            </a:r>
          </a:p>
          <a:p>
            <a:pPr eaLnBrk="1" hangingPunct="1"/>
            <a:r>
              <a:rPr lang="en-US" altLang="en-US"/>
              <a:t>The CUBE extension</a:t>
            </a:r>
          </a:p>
          <a:p>
            <a:pPr lvl="1" eaLnBrk="1" hangingPunct="1"/>
            <a:r>
              <a:rPr lang="en-US" altLang="en-US"/>
              <a:t>Used with GROUP BY clause to generate aggregates by the listed columns</a:t>
            </a:r>
          </a:p>
          <a:p>
            <a:pPr lvl="1" eaLnBrk="1" hangingPunct="1"/>
            <a:r>
              <a:rPr lang="en-US" altLang="en-US"/>
              <a:t>Enables you to get a subtotal for each column listed in the expression, in addition to a grand total for the last column listed</a:t>
            </a:r>
          </a:p>
          <a:p>
            <a:pPr lvl="1" eaLnBrk="1" hangingPunct="1"/>
            <a:endParaRPr lang="en-US" altLang="en-US"/>
          </a:p>
          <a:p>
            <a:pPr lvl="2" eaLnBrk="1" hangingPunct="1"/>
            <a:endParaRPr lang="en-US" altLang="en-US"/>
          </a:p>
          <a:p>
            <a:pPr lvl="1" eaLnBrk="1" hangingPunct="1"/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8EE28-89C1-4751-A984-69B35596B7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527C0FEE-0A32-4AAB-A305-B339343E7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SQL Analytic Functions (2 of 2)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4046809D-38EB-4C57-909A-F4C6B965C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1746250"/>
          </a:xfrm>
        </p:spPr>
        <p:txBody>
          <a:bodyPr/>
          <a:lstStyle/>
          <a:p>
            <a:pPr eaLnBrk="1" hangingPunct="1"/>
            <a:r>
              <a:rPr lang="en-US" altLang="en-US"/>
              <a:t>Materialized views</a:t>
            </a:r>
          </a:p>
          <a:p>
            <a:pPr lvl="1" eaLnBrk="1" hangingPunct="1"/>
            <a:r>
              <a:rPr lang="en-US" altLang="en-US"/>
              <a:t>Dynamic table that contains SQL query command to generate rows and stores the actual rows</a:t>
            </a:r>
          </a:p>
          <a:p>
            <a:pPr lvl="2" eaLnBrk="1" hangingPunct="1"/>
            <a:r>
              <a:rPr lang="en-US" altLang="en-US"/>
              <a:t>Created the first time query is run and summary rows are stored in the table</a:t>
            </a:r>
          </a:p>
          <a:p>
            <a:pPr lvl="2" eaLnBrk="1" hangingPunct="1"/>
            <a:r>
              <a:rPr lang="en-US" altLang="en-US"/>
              <a:t>Automatically updated when base tables are updated</a:t>
            </a:r>
          </a:p>
          <a:p>
            <a:pPr lvl="2" eaLnBrk="1" hangingPunct="1"/>
            <a:r>
              <a:rPr lang="en-US" altLang="en-US"/>
              <a:t>Requires specified privileges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B725C2-55EB-4813-8F83-E45B3E2108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2">
            <a:extLst>
              <a:ext uri="{FF2B5EF4-FFF2-40B4-BE49-F238E27FC236}">
                <a16:creationId xmlns:a16="http://schemas.microsoft.com/office/drawing/2014/main" id="{8D190F1C-6848-4E6B-8D9C-3E00B0D7B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Data Visualization (1 of 2)</a:t>
            </a:r>
          </a:p>
        </p:txBody>
      </p:sp>
      <p:sp>
        <p:nvSpPr>
          <p:cNvPr id="56323" name="Content Placeholder 1">
            <a:extLst>
              <a:ext uri="{FF2B5EF4-FFF2-40B4-BE49-F238E27FC236}">
                <a16:creationId xmlns:a16="http://schemas.microsoft.com/office/drawing/2014/main" id="{785B55CD-3421-43B9-BF46-F161083A5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4476750"/>
          </a:xfrm>
        </p:spPr>
        <p:txBody>
          <a:bodyPr/>
          <a:lstStyle/>
          <a:p>
            <a:pPr eaLnBrk="1" hangingPunct="1"/>
            <a:r>
              <a:rPr lang="en-US" altLang="en-US"/>
              <a:t>Process of abstracting data to provide a visual data representation that enhances the user’s ability to comprehend the meaning of the data</a:t>
            </a:r>
          </a:p>
          <a:p>
            <a:pPr lvl="1" eaLnBrk="1" hangingPunct="1"/>
            <a:r>
              <a:rPr lang="en-US" altLang="en-US"/>
              <a:t>Goal is to allow the user to quickly and efficiently see the data’s big picture by identifying trends, patterns, and relationships</a:t>
            </a:r>
          </a:p>
          <a:p>
            <a:pPr eaLnBrk="1" hangingPunct="1"/>
            <a:r>
              <a:rPr lang="en-US" altLang="en-US"/>
              <a:t>The need for data visualization</a:t>
            </a:r>
          </a:p>
          <a:p>
            <a:pPr lvl="1" eaLnBrk="1" hangingPunct="1"/>
            <a:r>
              <a:rPr lang="en-US" altLang="en-US"/>
              <a:t>Ability to zoom in and out, drill down and up, filter, etc. is one of the many advantages of current breed of data visualization tools</a:t>
            </a:r>
          </a:p>
          <a:p>
            <a:pPr lvl="1" eaLnBrk="1" hangingPunct="1"/>
            <a:r>
              <a:rPr lang="en-US" altLang="en-US"/>
              <a:t>Makes it easier to understand data—in particular, large amounts of data</a:t>
            </a:r>
          </a:p>
          <a:p>
            <a:pPr eaLnBrk="1" hangingPunct="1"/>
            <a:r>
              <a:rPr lang="en-US" altLang="en-US"/>
              <a:t>The science of data visualization</a:t>
            </a:r>
          </a:p>
          <a:p>
            <a:pPr lvl="1" eaLnBrk="1" hangingPunct="1"/>
            <a:r>
              <a:rPr lang="en-US" altLang="en-US"/>
              <a:t>Roots in cognitive sciences: how the human brain receives, interprets, organizes, and processes information</a:t>
            </a:r>
          </a:p>
          <a:p>
            <a:pPr lvl="2" eaLnBrk="1" hangingPunct="1"/>
            <a:r>
              <a:rPr lang="en-US" altLang="en-US"/>
              <a:t>Pattern recognition </a:t>
            </a:r>
          </a:p>
          <a:p>
            <a:pPr lvl="2" eaLnBrk="1" hangingPunct="1"/>
            <a:r>
              <a:rPr lang="en-US" altLang="en-US"/>
              <a:t>Spatial awareness </a:t>
            </a:r>
          </a:p>
          <a:p>
            <a:pPr lvl="2" eaLnBrk="1" hangingPunct="1"/>
            <a:r>
              <a:rPr lang="en-US" altLang="en-US"/>
              <a:t>Aesthetics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C7BD00-F314-4904-A1D0-E2A82D8082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2">
            <a:extLst>
              <a:ext uri="{FF2B5EF4-FFF2-40B4-BE49-F238E27FC236}">
                <a16:creationId xmlns:a16="http://schemas.microsoft.com/office/drawing/2014/main" id="{9976462F-281D-4920-B7E9-E25152260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Data Visualization (2 of 2)</a:t>
            </a:r>
          </a:p>
        </p:txBody>
      </p:sp>
      <p:sp>
        <p:nvSpPr>
          <p:cNvPr id="57347" name="Content Placeholder 1">
            <a:extLst>
              <a:ext uri="{FF2B5EF4-FFF2-40B4-BE49-F238E27FC236}">
                <a16:creationId xmlns:a16="http://schemas.microsoft.com/office/drawing/2014/main" id="{45DFC791-BA7F-4328-91A5-38C6E0E9C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2043112"/>
          </a:xfrm>
        </p:spPr>
        <p:txBody>
          <a:bodyPr/>
          <a:lstStyle/>
          <a:p>
            <a:pPr eaLnBrk="1" hangingPunct="1"/>
            <a:r>
              <a:rPr lang="en-US" altLang="en-US"/>
              <a:t>Understanding the data</a:t>
            </a:r>
          </a:p>
          <a:p>
            <a:pPr lvl="1" eaLnBrk="1" hangingPunct="1"/>
            <a:r>
              <a:rPr lang="en-US" altLang="en-US"/>
              <a:t>The same data can be presented in multiple ways</a:t>
            </a:r>
          </a:p>
          <a:p>
            <a:pPr eaLnBrk="1" hangingPunct="1"/>
            <a:r>
              <a:rPr lang="en-US" altLang="en-US"/>
              <a:t>In general, there are two types of data:</a:t>
            </a:r>
          </a:p>
          <a:p>
            <a:pPr lvl="1" eaLnBrk="1" hangingPunct="1"/>
            <a:r>
              <a:rPr lang="en-US" altLang="en-US"/>
              <a:t>Qualitative: describes qualities of the data</a:t>
            </a:r>
          </a:p>
          <a:p>
            <a:pPr lvl="2" eaLnBrk="1" hangingPunct="1"/>
            <a:r>
              <a:rPr lang="en-US" altLang="en-US"/>
              <a:t>Nominal or ordinal </a:t>
            </a:r>
          </a:p>
          <a:p>
            <a:pPr lvl="1" eaLnBrk="1" hangingPunct="1"/>
            <a:r>
              <a:rPr lang="en-US" altLang="en-US"/>
              <a:t>Quantitative: describes numeric facts or measures of the data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BC6C79-895E-4121-8E06-FD36148D3D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2">
            <a:extLst>
              <a:ext uri="{FF2B5EF4-FFF2-40B4-BE49-F238E27FC236}">
                <a16:creationId xmlns:a16="http://schemas.microsoft.com/office/drawing/2014/main" id="{C93E18E7-2B6D-4D65-AE44-6A8822E9A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Summary (1 of 2)</a:t>
            </a:r>
          </a:p>
        </p:txBody>
      </p:sp>
      <p:sp>
        <p:nvSpPr>
          <p:cNvPr id="58371" name="Content Placeholder 1">
            <a:extLst>
              <a:ext uri="{FF2B5EF4-FFF2-40B4-BE49-F238E27FC236}">
                <a16:creationId xmlns:a16="http://schemas.microsoft.com/office/drawing/2014/main" id="{290EEB3D-9D5C-4213-B2E4-69A3681C1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3832225"/>
          </a:xfrm>
        </p:spPr>
        <p:txBody>
          <a:bodyPr/>
          <a:lstStyle/>
          <a:p>
            <a:pPr eaLnBrk="1" hangingPunct="1"/>
            <a:r>
              <a:rPr lang="en-US" altLang="en-US"/>
              <a:t>Business intelligence (BI) is a term for a comprehensive, cohesive, and integrated set of applications used to capture, collect, integrate, store, and analyze data with the purpose of generating and presenting information to support business decision making</a:t>
            </a:r>
          </a:p>
          <a:p>
            <a:pPr eaLnBrk="1" hangingPunct="1"/>
            <a:r>
              <a:rPr lang="en-US" altLang="en-US"/>
              <a:t>Decision support systems (DSSs) refer to an arrangement of computerized tools used to assist managerial decision making within a business</a:t>
            </a:r>
          </a:p>
          <a:p>
            <a:pPr eaLnBrk="1" hangingPunct="1"/>
            <a:r>
              <a:rPr lang="en-US" altLang="en-US"/>
              <a:t>Operational data is not well suited for decision support</a:t>
            </a:r>
          </a:p>
          <a:p>
            <a:pPr eaLnBrk="1" hangingPunct="1"/>
            <a:r>
              <a:rPr lang="en-US" altLang="en-US"/>
              <a:t>The data warehouse is an integrated, subject-oriented, time-variant, nonvolatile collection of data that provides support for decision making</a:t>
            </a:r>
          </a:p>
          <a:p>
            <a:pPr eaLnBrk="1" hangingPunct="1"/>
            <a:r>
              <a:rPr lang="en-US" altLang="en-US"/>
              <a:t>The star schema is a data-modeling technique used to map multidimensional decision support data into a relational database for advanced data analysis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EFE0B3-2249-4505-A8D0-830A4439E0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2">
            <a:extLst>
              <a:ext uri="{FF2B5EF4-FFF2-40B4-BE49-F238E27FC236}">
                <a16:creationId xmlns:a16="http://schemas.microsoft.com/office/drawing/2014/main" id="{AA5F8B91-C619-4703-9F68-CD90B2B1B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pPr eaLnBrk="1" hangingPunct="1"/>
            <a:r>
              <a:rPr lang="en-US" altLang="en-US"/>
              <a:t>Summary (2 of 2)</a:t>
            </a:r>
          </a:p>
        </p:txBody>
      </p:sp>
      <p:sp>
        <p:nvSpPr>
          <p:cNvPr id="59395" name="Content Placeholder 1">
            <a:extLst>
              <a:ext uri="{FF2B5EF4-FFF2-40B4-BE49-F238E27FC236}">
                <a16:creationId xmlns:a16="http://schemas.microsoft.com/office/drawing/2014/main" id="{056EBCE1-5441-4DAB-82BD-479A44D0D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3832225"/>
          </a:xfrm>
        </p:spPr>
        <p:txBody>
          <a:bodyPr/>
          <a:lstStyle/>
          <a:p>
            <a:pPr eaLnBrk="1" hangingPunct="1"/>
            <a:r>
              <a:rPr lang="en-US" altLang="en-US"/>
              <a:t>Online analytical processing (OLAP) refers to an advanced data analysis environment that supports decision making, business modeling, and operations research</a:t>
            </a:r>
          </a:p>
          <a:p>
            <a:pPr eaLnBrk="1" hangingPunct="1"/>
            <a:r>
              <a:rPr lang="en-US" altLang="en-US"/>
              <a:t>Data analytics is a subset of BI functionality that provides advanced data analysis tools to extract knowledge from business data</a:t>
            </a:r>
          </a:p>
          <a:p>
            <a:pPr eaLnBrk="1" hangingPunct="1"/>
            <a:r>
              <a:rPr lang="en-US" altLang="en-US"/>
              <a:t>Data mining automates the analysis of operational data to find previously unknown data characteristics, relationships, dependencies, and trends</a:t>
            </a:r>
          </a:p>
          <a:p>
            <a:pPr eaLnBrk="1" hangingPunct="1"/>
            <a:r>
              <a:rPr lang="en-US" altLang="en-US"/>
              <a:t>SQL has been enhanced with analytic functions that support OLAP-type processing and data generation</a:t>
            </a:r>
          </a:p>
          <a:p>
            <a:pPr eaLnBrk="1" hangingPunct="1"/>
            <a:r>
              <a:rPr lang="en-US" altLang="en-US"/>
              <a:t>Data visualization provides visual representations of data that enhance the user’s ability to comprehend the meaning of the data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190DD-3CD3-4A0D-A0D7-23946DE7AA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d 2016 Med Module  1_PPT_2019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444</TotalTime>
  <Words>5436</Words>
  <Application>Microsoft Office PowerPoint</Application>
  <PresentationFormat>On-screen Show (4:3)</PresentationFormat>
  <Paragraphs>449</Paragraphs>
  <Slides>46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Georgia</vt:lpstr>
      <vt:lpstr>Word 2016 Med Module  1_PPT_2019</vt:lpstr>
      <vt:lpstr>Chapter 13 Business Intelligence and Data Warehouses</vt:lpstr>
      <vt:lpstr>Learning Objectives</vt:lpstr>
      <vt:lpstr>The Need for Data Analysis</vt:lpstr>
      <vt:lpstr>Business Intelligence (1 of 2)</vt:lpstr>
      <vt:lpstr>Business Intelligence (2 of 2) </vt:lpstr>
      <vt:lpstr>Business Intelligence Architecture (1 of 3)</vt:lpstr>
      <vt:lpstr>Business Intelligence Architecture (2 of 3)</vt:lpstr>
      <vt:lpstr>Business Intelligence Architecture (3 of 3)</vt:lpstr>
      <vt:lpstr>Business Intelligence Benefits</vt:lpstr>
      <vt:lpstr>Business Intelligence Evolution (1 of 2)</vt:lpstr>
      <vt:lpstr>Business Intelligence Evolution (2 of 2)</vt:lpstr>
      <vt:lpstr>Business Intelligence Technology Trends</vt:lpstr>
      <vt:lpstr>Decision Support Data</vt:lpstr>
      <vt:lpstr>Operational Data versus Decision Support Data (1 of 3)</vt:lpstr>
      <vt:lpstr>Operational Data versus Decision Support Data (2 of 3)</vt:lpstr>
      <vt:lpstr>Operational Data versus Decision Support Data (3 of 3)</vt:lpstr>
      <vt:lpstr>Decision Support Database Requirements</vt:lpstr>
      <vt:lpstr>The Data Warehouse (1 of 3)</vt:lpstr>
      <vt:lpstr>The Data Warehouse (2 of 3)</vt:lpstr>
      <vt:lpstr>The Data Warehouse (3 of 3)</vt:lpstr>
      <vt:lpstr>Data Marts</vt:lpstr>
      <vt:lpstr>Twelve Rules That Define a Data Warehouse</vt:lpstr>
      <vt:lpstr>Star Schemas (1 of 5)</vt:lpstr>
      <vt:lpstr>Star Schemas (2 of 5)</vt:lpstr>
      <vt:lpstr>Star Schemas (3 of 5)</vt:lpstr>
      <vt:lpstr>Star Schemas (4 of 5)</vt:lpstr>
      <vt:lpstr>Star Schemas (5 of 5)</vt:lpstr>
      <vt:lpstr>Online Analytical Processing (OLAP) </vt:lpstr>
      <vt:lpstr>Multidimensional Data Analysis Techniques</vt:lpstr>
      <vt:lpstr>Advanced Database Support</vt:lpstr>
      <vt:lpstr>Easy-to-Use End-User Interface</vt:lpstr>
      <vt:lpstr>OLAP Architecture (1 of 2)</vt:lpstr>
      <vt:lpstr>OLAP Architecture (2 of 2)</vt:lpstr>
      <vt:lpstr>Relational OLAP</vt:lpstr>
      <vt:lpstr>Multidimensional OLAP</vt:lpstr>
      <vt:lpstr>Relational versus Multidimensional OLAP</vt:lpstr>
      <vt:lpstr>Data Analytics (1 of 4)</vt:lpstr>
      <vt:lpstr>Data Analytics (2 of 4)</vt:lpstr>
      <vt:lpstr>Data Analytics (3 of 4)</vt:lpstr>
      <vt:lpstr>Data Analytics (4 of 4)</vt:lpstr>
      <vt:lpstr>SQL Analytic Functions (1 of 2)</vt:lpstr>
      <vt:lpstr>SQL Analytic Functions (2 of 2)</vt:lpstr>
      <vt:lpstr>Data Visualization (1 of 2)</vt:lpstr>
      <vt:lpstr>Data Visualization (2 of 2)</vt:lpstr>
      <vt:lpstr>Summary (1 of 2)</vt:lpstr>
      <vt:lpstr>Summary (2 of 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Sharon Thomas</dc:creator>
  <cp:lastModifiedBy>Sara Swenson</cp:lastModifiedBy>
  <cp:revision>61</cp:revision>
  <dcterms:created xsi:type="dcterms:W3CDTF">2014-01-28T12:09:28Z</dcterms:created>
  <dcterms:modified xsi:type="dcterms:W3CDTF">2024-10-14T14:36:57Z</dcterms:modified>
</cp:coreProperties>
</file>